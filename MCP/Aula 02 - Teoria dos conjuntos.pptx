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70" r:id="rId3"/>
    <p:sldId id="302" r:id="rId4"/>
    <p:sldId id="272" r:id="rId5"/>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27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snapToObjects="1">
      <p:cViewPr varScale="1">
        <p:scale>
          <a:sx n="105" d="100"/>
          <a:sy n="105" d="100"/>
        </p:scale>
        <p:origin x="82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274870-BBE9-4BD5-846D-B155B3EBE7C1}" type="datetimeFigureOut">
              <a:rPr lang="pt-BR" smtClean="0"/>
              <a:t>10/08/2026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B57CFE-3943-4945-8443-500FB3250240}" type="slidenum">
              <a:rPr lang="pt-BR" smtClean="0"/>
              <a:t>‹#›</a:t>
            </a:fld>
            <a:endParaRPr lang="pt-BR"/>
          </a:p>
        </p:txBody>
      </p:sp>
    </p:spTree>
    <p:extLst>
      <p:ext uri="{BB962C8B-B14F-4D97-AF65-F5344CB8AC3E}">
        <p14:creationId xmlns:p14="http://schemas.microsoft.com/office/powerpoint/2010/main" val="3001085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FBDA10-00E0-45D7-91E6-E955A81D1B17}" type="datetime1">
              <a:rPr lang="pt-BR" smtClean="0"/>
              <a:t>10/08/2026</a:t>
            </a:fld>
            <a:endParaRPr lang="en-US"/>
          </a:p>
        </p:txBody>
      </p:sp>
      <p:sp>
        <p:nvSpPr>
          <p:cNvPr id="5" name="Footer Placeholder 4"/>
          <p:cNvSpPr>
            <a:spLocks noGrp="1"/>
          </p:cNvSpPr>
          <p:nvPr>
            <p:ph type="ftr" sz="quarter" idx="11"/>
          </p:nvPr>
        </p:nvSpPr>
        <p:spPr/>
        <p:txBody>
          <a:bodyPr/>
          <a:lstStyle/>
          <a:p>
            <a:r>
              <a:rPr lang="en-US"/>
              <a:t>Profª Thissiany Beatriz Almeida</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8CD379-2807-4787-A4BE-ECAC19D49438}" type="datetime1">
              <a:rPr lang="pt-BR" smtClean="0"/>
              <a:t>10/08/2026</a:t>
            </a:fld>
            <a:endParaRPr lang="en-US"/>
          </a:p>
        </p:txBody>
      </p:sp>
      <p:sp>
        <p:nvSpPr>
          <p:cNvPr id="5" name="Footer Placeholder 4"/>
          <p:cNvSpPr>
            <a:spLocks noGrp="1"/>
          </p:cNvSpPr>
          <p:nvPr>
            <p:ph type="ftr" sz="quarter" idx="11"/>
          </p:nvPr>
        </p:nvSpPr>
        <p:spPr/>
        <p:txBody>
          <a:bodyPr/>
          <a:lstStyle/>
          <a:p>
            <a:r>
              <a:rPr lang="en-US"/>
              <a:t>Profª Thissiany Beatriz Almeida</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67C034-0DE3-494B-B7D3-61B4399AF3A9}" type="datetime1">
              <a:rPr lang="pt-BR" smtClean="0"/>
              <a:t>10/08/2026</a:t>
            </a:fld>
            <a:endParaRPr lang="en-US"/>
          </a:p>
        </p:txBody>
      </p:sp>
      <p:sp>
        <p:nvSpPr>
          <p:cNvPr id="5" name="Footer Placeholder 4"/>
          <p:cNvSpPr>
            <a:spLocks noGrp="1"/>
          </p:cNvSpPr>
          <p:nvPr>
            <p:ph type="ftr" sz="quarter" idx="11"/>
          </p:nvPr>
        </p:nvSpPr>
        <p:spPr/>
        <p:txBody>
          <a:bodyPr/>
          <a:lstStyle/>
          <a:p>
            <a:r>
              <a:rPr lang="en-US"/>
              <a:t>Profª Thissiany Beatriz Almeida</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D05B55-F065-4A08-A83F-ACDA411131B6}" type="datetime1">
              <a:rPr lang="pt-BR" smtClean="0"/>
              <a:t>10/08/2026</a:t>
            </a:fld>
            <a:endParaRPr lang="en-US"/>
          </a:p>
        </p:txBody>
      </p:sp>
      <p:sp>
        <p:nvSpPr>
          <p:cNvPr id="6" name="Footer Placeholder 5"/>
          <p:cNvSpPr>
            <a:spLocks noGrp="1"/>
          </p:cNvSpPr>
          <p:nvPr>
            <p:ph type="ftr" sz="quarter" idx="11"/>
          </p:nvPr>
        </p:nvSpPr>
        <p:spPr/>
        <p:txBody>
          <a:bodyPr/>
          <a:lstStyle/>
          <a:p>
            <a:r>
              <a:rPr lang="en-US"/>
              <a:t>Profª Thissiany Beatriz Almeida</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045F807-C119-410E-883A-EFAD47B83304}" type="datetime1">
              <a:rPr lang="pt-BR" smtClean="0"/>
              <a:t>10/08/2026</a:t>
            </a:fld>
            <a:endParaRPr lang="en-US"/>
          </a:p>
        </p:txBody>
      </p:sp>
      <p:sp>
        <p:nvSpPr>
          <p:cNvPr id="8" name="Footer Placeholder 7"/>
          <p:cNvSpPr>
            <a:spLocks noGrp="1"/>
          </p:cNvSpPr>
          <p:nvPr>
            <p:ph type="ftr" sz="quarter" idx="11"/>
          </p:nvPr>
        </p:nvSpPr>
        <p:spPr/>
        <p:txBody>
          <a:bodyPr/>
          <a:lstStyle/>
          <a:p>
            <a:r>
              <a:rPr lang="en-US"/>
              <a:t>Profª Thissiany Beatriz Almeida</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9480DED-868C-4B3E-907F-1FA0DDFEF19A}" type="datetime1">
              <a:rPr lang="pt-BR" smtClean="0"/>
              <a:t>10/08/2026</a:t>
            </a:fld>
            <a:endParaRPr lang="en-US"/>
          </a:p>
        </p:txBody>
      </p:sp>
      <p:sp>
        <p:nvSpPr>
          <p:cNvPr id="4" name="Footer Placeholder 3"/>
          <p:cNvSpPr>
            <a:spLocks noGrp="1"/>
          </p:cNvSpPr>
          <p:nvPr>
            <p:ph type="ftr" sz="quarter" idx="11"/>
          </p:nvPr>
        </p:nvSpPr>
        <p:spPr/>
        <p:txBody>
          <a:bodyPr/>
          <a:lstStyle/>
          <a:p>
            <a:r>
              <a:rPr lang="en-US"/>
              <a:t>Profª Thissiany Beatriz Almeida</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09463C-EAF7-4215-BEF9-71A4AF9608FB}" type="datetime1">
              <a:rPr lang="pt-BR" smtClean="0"/>
              <a:t>10/08/2026</a:t>
            </a:fld>
            <a:endParaRPr lang="en-US"/>
          </a:p>
        </p:txBody>
      </p:sp>
      <p:sp>
        <p:nvSpPr>
          <p:cNvPr id="3" name="Footer Placeholder 2"/>
          <p:cNvSpPr>
            <a:spLocks noGrp="1"/>
          </p:cNvSpPr>
          <p:nvPr>
            <p:ph type="ftr" sz="quarter" idx="11"/>
          </p:nvPr>
        </p:nvSpPr>
        <p:spPr/>
        <p:txBody>
          <a:bodyPr/>
          <a:lstStyle/>
          <a:p>
            <a:r>
              <a:rPr lang="en-US"/>
              <a:t>Profª Thissiany Beatriz Almeida</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599CC1-7984-4601-A39B-2D7B0F99E7FA}" type="datetime1">
              <a:rPr lang="pt-BR" smtClean="0"/>
              <a:t>10/08/2026</a:t>
            </a:fld>
            <a:endParaRPr lang="en-US"/>
          </a:p>
        </p:txBody>
      </p:sp>
      <p:sp>
        <p:nvSpPr>
          <p:cNvPr id="6" name="Footer Placeholder 5"/>
          <p:cNvSpPr>
            <a:spLocks noGrp="1"/>
          </p:cNvSpPr>
          <p:nvPr>
            <p:ph type="ftr" sz="quarter" idx="11"/>
          </p:nvPr>
        </p:nvSpPr>
        <p:spPr/>
        <p:txBody>
          <a:bodyPr/>
          <a:lstStyle/>
          <a:p>
            <a:r>
              <a:rPr lang="en-US"/>
              <a:t>Profª Thissiany Beatriz Almeida</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C1C41D-73C5-4F37-90DB-66C49BF4251D}" type="datetime1">
              <a:rPr lang="pt-BR" smtClean="0"/>
              <a:t>10/08/2026</a:t>
            </a:fld>
            <a:endParaRPr lang="en-US"/>
          </a:p>
        </p:txBody>
      </p:sp>
      <p:sp>
        <p:nvSpPr>
          <p:cNvPr id="6" name="Footer Placeholder 5"/>
          <p:cNvSpPr>
            <a:spLocks noGrp="1"/>
          </p:cNvSpPr>
          <p:nvPr>
            <p:ph type="ftr" sz="quarter" idx="11"/>
          </p:nvPr>
        </p:nvSpPr>
        <p:spPr/>
        <p:txBody>
          <a:bodyPr/>
          <a:lstStyle/>
          <a:p>
            <a:r>
              <a:rPr lang="en-US"/>
              <a:t>Profª Thissiany Beatriz Almeida</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AE8142-B937-4A0E-8730-223D7E82DFC6}" type="datetime1">
              <a:rPr lang="pt-BR" smtClean="0"/>
              <a:t>10/08/2026</a:t>
            </a:fld>
            <a:endParaRPr lang="en-US"/>
          </a:p>
        </p:txBody>
      </p:sp>
      <p:sp>
        <p:nvSpPr>
          <p:cNvPr id="5" name="Footer Placeholder 4"/>
          <p:cNvSpPr>
            <a:spLocks noGrp="1"/>
          </p:cNvSpPr>
          <p:nvPr>
            <p:ph type="ftr" sz="quarter" idx="11"/>
          </p:nvPr>
        </p:nvSpPr>
        <p:spPr/>
        <p:txBody>
          <a:bodyPr/>
          <a:lstStyle/>
          <a:p>
            <a:r>
              <a:rPr lang="en-US"/>
              <a:t>Profª Thissiany Beatriz Almeida</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B87B0C-3669-464C-BB06-1279E0CFE9AF}" type="datetime1">
              <a:rPr lang="pt-BR" smtClean="0"/>
              <a:t>10/08/2026</a:t>
            </a:fld>
            <a:endParaRPr lang="en-US"/>
          </a:p>
        </p:txBody>
      </p:sp>
      <p:sp>
        <p:nvSpPr>
          <p:cNvPr id="5" name="Footer Placeholder 4"/>
          <p:cNvSpPr>
            <a:spLocks noGrp="1"/>
          </p:cNvSpPr>
          <p:nvPr>
            <p:ph type="ftr" sz="quarter" idx="11"/>
          </p:nvPr>
        </p:nvSpPr>
        <p:spPr/>
        <p:txBody>
          <a:bodyPr/>
          <a:lstStyle/>
          <a:p>
            <a:r>
              <a:rPr lang="en-US"/>
              <a:t>Profª Thissiany Beatriz Almeida</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644418-FFE9-4666-8473-4356086058F7}" type="datetime1">
              <a:rPr lang="pt-BR" smtClean="0"/>
              <a:t>10/08/2026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Profª Thissiany Beatriz Almeida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FF5B44C4-32E8-5ABD-BB78-D1FB5796935E}"/>
              </a:ext>
            </a:extLst>
          </p:cNvPr>
          <p:cNvSpPr/>
          <p:nvPr/>
        </p:nvSpPr>
        <p:spPr>
          <a:xfrm>
            <a:off x="0" y="2165684"/>
            <a:ext cx="12089331" cy="1735696"/>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pt-BR"/>
          </a:p>
        </p:txBody>
      </p:sp>
      <p:pic>
        <p:nvPicPr>
          <p:cNvPr id="2" name="Picture 1" descr="image.png"/>
          <p:cNvPicPr>
            <a:picLocks noChangeAspect="1"/>
          </p:cNvPicPr>
          <p:nvPr/>
        </p:nvPicPr>
        <p:blipFill>
          <a:blip r:embed="rId2"/>
          <a:stretch/>
        </p:blipFill>
        <p:spPr>
          <a:xfrm>
            <a:off x="0" y="0"/>
            <a:ext cx="12192000" cy="6858000"/>
          </a:xfrm>
          <a:prstGeom prst="rect">
            <a:avLst/>
          </a:prstGeom>
          <a:solidFill>
            <a:schemeClr val="bg1"/>
          </a:solidFill>
        </p:spPr>
      </p:pic>
      <p:sp>
        <p:nvSpPr>
          <p:cNvPr id="3" name="TextBox 2"/>
          <p:cNvSpPr txBox="1"/>
          <p:nvPr/>
        </p:nvSpPr>
        <p:spPr>
          <a:xfrm>
            <a:off x="0" y="2369939"/>
            <a:ext cx="12192000" cy="679673"/>
          </a:xfrm>
          <a:prstGeom prst="rect">
            <a:avLst/>
          </a:prstGeom>
          <a:noFill/>
        </p:spPr>
        <p:txBody>
          <a:bodyPr wrap="square" lIns="0" tIns="0" rIns="0" bIns="0" anchor="t">
            <a:spAutoFit/>
          </a:bodyPr>
          <a:lstStyle/>
          <a:p>
            <a:pPr algn="ctr">
              <a:lnSpc>
                <a:spcPts val="5280"/>
              </a:lnSpc>
            </a:pPr>
            <a:r>
              <a:rPr lang="pt-BR" sz="4800" b="1" dirty="0">
                <a:latin typeface="Montserrat"/>
              </a:rPr>
              <a:t>TEORIA DOS CONJUNTOS</a:t>
            </a:r>
            <a:endParaRPr sz="4800" b="1" i="0" u="none" dirty="0">
              <a:latin typeface="Montserrat"/>
            </a:endParaRPr>
          </a:p>
        </p:txBody>
      </p:sp>
      <p:sp>
        <p:nvSpPr>
          <p:cNvPr id="4" name="TextBox 3"/>
          <p:cNvSpPr txBox="1"/>
          <p:nvPr/>
        </p:nvSpPr>
        <p:spPr>
          <a:xfrm>
            <a:off x="-8771" y="3901380"/>
            <a:ext cx="12200771" cy="362728"/>
          </a:xfrm>
          <a:prstGeom prst="rect">
            <a:avLst/>
          </a:prstGeom>
          <a:noFill/>
        </p:spPr>
        <p:txBody>
          <a:bodyPr wrap="square" lIns="0" tIns="0" rIns="0" bIns="0" anchor="t">
            <a:spAutoFit/>
          </a:bodyPr>
          <a:lstStyle/>
          <a:p>
            <a:pPr algn="ctr">
              <a:lnSpc>
                <a:spcPts val="3120"/>
              </a:lnSpc>
            </a:pPr>
            <a:r>
              <a:rPr lang="pt-BR" sz="1950" b="1" dirty="0">
                <a:solidFill>
                  <a:srgbClr val="BF0000"/>
                </a:solidFill>
                <a:latin typeface="Open Sans"/>
                <a:ea typeface="Open Sans" panose="020B0606030504020204" pitchFamily="34" charset="0"/>
                <a:cs typeface="Open Sans" panose="020B0606030504020204" pitchFamily="34" charset="0"/>
              </a:rPr>
              <a:t>NOTAÇÃO – PROPRIEDADES – OPERAÇÕES – FORMAS DE REPRESENTAÇÃO</a:t>
            </a:r>
            <a:endParaRPr sz="1950" b="1" dirty="0">
              <a:solidFill>
                <a:srgbClr val="BF0000"/>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5" name="Conector reto 14">
            <a:extLst>
              <a:ext uri="{FF2B5EF4-FFF2-40B4-BE49-F238E27FC236}">
                <a16:creationId xmlns:a16="http://schemas.microsoft.com/office/drawing/2014/main" id="{9E8F467A-391E-54FA-BA09-075DAD2E86E1}"/>
              </a:ext>
            </a:extLst>
          </p:cNvPr>
          <p:cNvCxnSpPr>
            <a:cxnSpLocks/>
          </p:cNvCxnSpPr>
          <p:nvPr/>
        </p:nvCxnSpPr>
        <p:spPr>
          <a:xfrm>
            <a:off x="0" y="658368"/>
            <a:ext cx="12183229"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Retângulo 15">
            <a:extLst>
              <a:ext uri="{FF2B5EF4-FFF2-40B4-BE49-F238E27FC236}">
                <a16:creationId xmlns:a16="http://schemas.microsoft.com/office/drawing/2014/main" id="{CAADE71E-0F3B-8845-D9F9-60929C720797}"/>
              </a:ext>
            </a:extLst>
          </p:cNvPr>
          <p:cNvSpPr/>
          <p:nvPr/>
        </p:nvSpPr>
        <p:spPr>
          <a:xfrm>
            <a:off x="-8771" y="6271319"/>
            <a:ext cx="12192000" cy="574570"/>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7" name="Espaço Reservado para Rodapé 11">
            <a:extLst>
              <a:ext uri="{FF2B5EF4-FFF2-40B4-BE49-F238E27FC236}">
                <a16:creationId xmlns:a16="http://schemas.microsoft.com/office/drawing/2014/main" id="{45FBC898-0A40-57D2-B1ED-316F602A674C}"/>
              </a:ext>
            </a:extLst>
          </p:cNvPr>
          <p:cNvSpPr txBox="1">
            <a:spLocks/>
          </p:cNvSpPr>
          <p:nvPr/>
        </p:nvSpPr>
        <p:spPr>
          <a:xfrm>
            <a:off x="7766620" y="6292623"/>
            <a:ext cx="2895600" cy="54948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solidFill>
                  <a:schemeClr val="bg1"/>
                </a:solidFill>
              </a:rPr>
              <a:t>PROFª THISSIANY BEATRIZ ALMEIDA</a:t>
            </a:r>
          </a:p>
        </p:txBody>
      </p:sp>
      <p:sp>
        <p:nvSpPr>
          <p:cNvPr id="18" name="Espaço Reservado para Rodapé 11">
            <a:extLst>
              <a:ext uri="{FF2B5EF4-FFF2-40B4-BE49-F238E27FC236}">
                <a16:creationId xmlns:a16="http://schemas.microsoft.com/office/drawing/2014/main" id="{12A0D693-BB7A-BB1E-0E6D-014AE3ECA411}"/>
              </a:ext>
            </a:extLst>
          </p:cNvPr>
          <p:cNvSpPr txBox="1">
            <a:spLocks/>
          </p:cNvSpPr>
          <p:nvPr/>
        </p:nvSpPr>
        <p:spPr>
          <a:xfrm>
            <a:off x="1452878" y="6292623"/>
            <a:ext cx="5030536" cy="559322"/>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solidFill>
                  <a:schemeClr val="bg1"/>
                </a:solidFill>
              </a:rPr>
              <a:t>MATEMÁTICA PARA COMPUTAÇÃO</a:t>
            </a:r>
          </a:p>
        </p:txBody>
      </p:sp>
      <p:pic>
        <p:nvPicPr>
          <p:cNvPr id="11" name="Picture 10">
            <a:extLst>
              <a:ext uri="{FF2B5EF4-FFF2-40B4-BE49-F238E27FC236}">
                <a16:creationId xmlns:a16="http://schemas.microsoft.com/office/drawing/2014/main" id="{35238B18-1287-1823-AC7D-964EA007E9D3}"/>
              </a:ext>
            </a:extLst>
          </p:cNvPr>
          <p:cNvPicPr>
            <a:picLocks noChangeAspect="1"/>
          </p:cNvPicPr>
          <p:nvPr/>
        </p:nvPicPr>
        <p:blipFill>
          <a:blip r:embed="rId3"/>
          <a:stretch>
            <a:fillRect/>
          </a:stretch>
        </p:blipFill>
        <p:spPr>
          <a:xfrm>
            <a:off x="7507224" y="100159"/>
            <a:ext cx="4693547" cy="7295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61140-5F90-8B92-3C88-91D7FB60AF5F}"/>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8866147B-50B0-1567-1186-AAB0D37AB344}"/>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DFE8350B-1EBA-56C1-7353-2BE2357CBA14}"/>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i="0" u="none" dirty="0">
                <a:solidFill>
                  <a:srgbClr val="121212"/>
                </a:solidFill>
                <a:latin typeface="Montserrat"/>
              </a:rPr>
              <a:t>ROTEIRO</a:t>
            </a:r>
          </a:p>
        </p:txBody>
      </p:sp>
      <p:pic>
        <p:nvPicPr>
          <p:cNvPr id="6" name="Picture 2" descr="image.png">
            <a:extLst>
              <a:ext uri="{FF2B5EF4-FFF2-40B4-BE49-F238E27FC236}">
                <a16:creationId xmlns:a16="http://schemas.microsoft.com/office/drawing/2014/main" id="{A4FEB53F-E91D-AB68-33B7-BE2858CCB090}"/>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AF5F9CF2-E8C3-27AC-F85E-55BA076DFA2C}"/>
              </a:ext>
            </a:extLst>
          </p:cNvPr>
          <p:cNvSpPr txBox="1"/>
          <p:nvPr/>
        </p:nvSpPr>
        <p:spPr>
          <a:xfrm>
            <a:off x="941536" y="1512892"/>
            <a:ext cx="10360448" cy="4326762"/>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b="0" i="1" u="none" dirty="0">
                <a:solidFill>
                  <a:srgbClr val="333333"/>
                </a:solidFill>
                <a:latin typeface="Open Sans"/>
              </a:rPr>
              <a:t> </a:t>
            </a:r>
            <a:r>
              <a:rPr lang="pt-BR" sz="2400" i="1" dirty="0">
                <a:solidFill>
                  <a:srgbClr val="333333"/>
                </a:solidFill>
                <a:latin typeface="Open Sans"/>
              </a:rPr>
              <a:t>CONJUNTOS</a:t>
            </a:r>
          </a:p>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NOTAÇÃO</a:t>
            </a:r>
            <a:endParaRPr lang="pt-BR" sz="2400" b="0" i="1" u="none" dirty="0">
              <a:solidFill>
                <a:srgbClr val="333333"/>
              </a:solidFill>
              <a:latin typeface="Open Sans"/>
            </a:endParaRPr>
          </a:p>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PROPRIEDADES</a:t>
            </a:r>
          </a:p>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RELAÇÕES</a:t>
            </a:r>
          </a:p>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OPERAÇÕES</a:t>
            </a:r>
            <a:endParaRPr lang="pt-BR" sz="2400" b="0" i="1" u="none" dirty="0">
              <a:solidFill>
                <a:srgbClr val="333333"/>
              </a:solidFill>
              <a:latin typeface="Open Sans"/>
            </a:endParaRPr>
          </a:p>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FORMAS DE REPRESENTAÇÃO</a:t>
            </a:r>
          </a:p>
        </p:txBody>
      </p:sp>
      <p:pic>
        <p:nvPicPr>
          <p:cNvPr id="4" name="Picture 3">
            <a:extLst>
              <a:ext uri="{FF2B5EF4-FFF2-40B4-BE49-F238E27FC236}">
                <a16:creationId xmlns:a16="http://schemas.microsoft.com/office/drawing/2014/main" id="{0B1EDE5D-2582-42F0-F185-E5E9A8FAC079}"/>
              </a:ext>
            </a:extLst>
          </p:cNvPr>
          <p:cNvPicPr>
            <a:picLocks noChangeAspect="1"/>
          </p:cNvPicPr>
          <p:nvPr/>
        </p:nvPicPr>
        <p:blipFill>
          <a:blip r:embed="rId4">
            <a:duotone>
              <a:srgbClr val="C0504D">
                <a:shade val="45000"/>
                <a:satMod val="135000"/>
              </a:srgbClr>
              <a:prstClr val="white"/>
            </a:duotone>
          </a:blip>
          <a:srcRect t="11545" b="9555"/>
          <a:stretch>
            <a:fillRect/>
          </a:stretch>
        </p:blipFill>
        <p:spPr>
          <a:xfrm>
            <a:off x="6857752" y="2032941"/>
            <a:ext cx="3928444" cy="3598491"/>
          </a:xfrm>
          <a:prstGeom prst="rect">
            <a:avLst/>
          </a:prstGeom>
        </p:spPr>
      </p:pic>
    </p:spTree>
    <p:extLst>
      <p:ext uri="{BB962C8B-B14F-4D97-AF65-F5344CB8AC3E}">
        <p14:creationId xmlns:p14="http://schemas.microsoft.com/office/powerpoint/2010/main" val="2092458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5853-1741-6D41-9366-22A42BF01AD1}"/>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2EEB4900-82F3-D18C-7C09-5EF0ECB2C5FA}"/>
              </a:ext>
            </a:extLst>
          </p:cNvPr>
          <p:cNvSpPr/>
          <p:nvPr/>
        </p:nvSpPr>
        <p:spPr>
          <a:xfrm>
            <a:off x="0" y="2165684"/>
            <a:ext cx="12089331" cy="1735696"/>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pt-BR"/>
          </a:p>
        </p:txBody>
      </p:sp>
      <p:pic>
        <p:nvPicPr>
          <p:cNvPr id="2" name="Picture 1" descr="image.png">
            <a:extLst>
              <a:ext uri="{FF2B5EF4-FFF2-40B4-BE49-F238E27FC236}">
                <a16:creationId xmlns:a16="http://schemas.microsoft.com/office/drawing/2014/main" id="{8CDEDD5A-28EA-F698-92ED-5013466CAA53}"/>
              </a:ext>
            </a:extLst>
          </p:cNvPr>
          <p:cNvPicPr>
            <a:picLocks noChangeAspect="1"/>
          </p:cNvPicPr>
          <p:nvPr/>
        </p:nvPicPr>
        <p:blipFill>
          <a:blip r:embed="rId2"/>
          <a:stretch/>
        </p:blipFill>
        <p:spPr>
          <a:xfrm>
            <a:off x="0" y="0"/>
            <a:ext cx="12192000" cy="6858000"/>
          </a:xfrm>
          <a:prstGeom prst="rect">
            <a:avLst/>
          </a:prstGeom>
          <a:solidFill>
            <a:schemeClr val="bg1"/>
          </a:solidFill>
        </p:spPr>
      </p:pic>
      <p:sp>
        <p:nvSpPr>
          <p:cNvPr id="3" name="TextBox 2">
            <a:extLst>
              <a:ext uri="{FF2B5EF4-FFF2-40B4-BE49-F238E27FC236}">
                <a16:creationId xmlns:a16="http://schemas.microsoft.com/office/drawing/2014/main" id="{C5D37E32-8273-DD08-5F51-FA1F16435BBF}"/>
              </a:ext>
            </a:extLst>
          </p:cNvPr>
          <p:cNvSpPr txBox="1"/>
          <p:nvPr/>
        </p:nvSpPr>
        <p:spPr>
          <a:xfrm>
            <a:off x="0" y="3037451"/>
            <a:ext cx="12192000" cy="679673"/>
          </a:xfrm>
          <a:prstGeom prst="rect">
            <a:avLst/>
          </a:prstGeom>
          <a:noFill/>
        </p:spPr>
        <p:txBody>
          <a:bodyPr wrap="square" lIns="0" tIns="0" rIns="0" bIns="0" anchor="t">
            <a:spAutoFit/>
          </a:bodyPr>
          <a:lstStyle/>
          <a:p>
            <a:pPr algn="ctr">
              <a:lnSpc>
                <a:spcPts val="5280"/>
              </a:lnSpc>
            </a:pPr>
            <a:r>
              <a:rPr lang="pt-BR" sz="4800" b="1" i="0" u="none" dirty="0">
                <a:latin typeface="Montserrat"/>
              </a:rPr>
              <a:t>CONJUNTOS</a:t>
            </a:r>
            <a:endParaRPr sz="4800" b="1" i="0" u="none" dirty="0">
              <a:latin typeface="Montserrat"/>
            </a:endParaRPr>
          </a:p>
        </p:txBody>
      </p:sp>
      <p:sp>
        <p:nvSpPr>
          <p:cNvPr id="16" name="Retângulo 15">
            <a:extLst>
              <a:ext uri="{FF2B5EF4-FFF2-40B4-BE49-F238E27FC236}">
                <a16:creationId xmlns:a16="http://schemas.microsoft.com/office/drawing/2014/main" id="{61DF754B-F5D4-44C6-8901-1CCF7C5F3004}"/>
              </a:ext>
            </a:extLst>
          </p:cNvPr>
          <p:cNvSpPr/>
          <p:nvPr/>
        </p:nvSpPr>
        <p:spPr>
          <a:xfrm>
            <a:off x="-1" y="6271319"/>
            <a:ext cx="12183229" cy="574570"/>
          </a:xfrm>
          <a:prstGeom prst="rect">
            <a:avLst/>
          </a:prstGeom>
          <a:solidFill>
            <a:schemeClr val="tx1"/>
          </a:solidFill>
          <a:ln w="38100">
            <a:no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 name="Conector reto 14">
            <a:extLst>
              <a:ext uri="{FF2B5EF4-FFF2-40B4-BE49-F238E27FC236}">
                <a16:creationId xmlns:a16="http://schemas.microsoft.com/office/drawing/2014/main" id="{3A9CA754-D9C0-9586-5DBA-6CB0C19A67AD}"/>
              </a:ext>
            </a:extLst>
          </p:cNvPr>
          <p:cNvCxnSpPr>
            <a:cxnSpLocks/>
          </p:cNvCxnSpPr>
          <p:nvPr/>
        </p:nvCxnSpPr>
        <p:spPr>
          <a:xfrm>
            <a:off x="0" y="2414016"/>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cxnSp>
        <p:nvCxnSpPr>
          <p:cNvPr id="7" name="Conector reto 14">
            <a:extLst>
              <a:ext uri="{FF2B5EF4-FFF2-40B4-BE49-F238E27FC236}">
                <a16:creationId xmlns:a16="http://schemas.microsoft.com/office/drawing/2014/main" id="{74D41558-FA04-1F3C-E146-AF4F3492C88A}"/>
              </a:ext>
            </a:extLst>
          </p:cNvPr>
          <p:cNvCxnSpPr>
            <a:cxnSpLocks/>
          </p:cNvCxnSpPr>
          <p:nvPr/>
        </p:nvCxnSpPr>
        <p:spPr>
          <a:xfrm>
            <a:off x="0" y="4178808"/>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484181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97DB9-88F4-A809-3363-BB864234F6D0}"/>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C57CD8B6-2DE9-EC28-5C7F-CC447ABF3E8C}"/>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C52EB2E0-E530-5BDF-4D6B-E755410A542F}"/>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i="0" u="none" dirty="0">
                <a:solidFill>
                  <a:srgbClr val="121212"/>
                </a:solidFill>
                <a:latin typeface="Montserrat"/>
              </a:rPr>
              <a:t>CONJUNTOS</a:t>
            </a:r>
          </a:p>
        </p:txBody>
      </p:sp>
      <p:pic>
        <p:nvPicPr>
          <p:cNvPr id="6" name="Picture 2" descr="image.png">
            <a:extLst>
              <a:ext uri="{FF2B5EF4-FFF2-40B4-BE49-F238E27FC236}">
                <a16:creationId xmlns:a16="http://schemas.microsoft.com/office/drawing/2014/main" id="{C99BA9A6-03E6-A01F-B43E-2D2241EDED82}"/>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D1B2F668-52CC-AC5D-7C5B-29EAD472327D}"/>
              </a:ext>
            </a:extLst>
          </p:cNvPr>
          <p:cNvSpPr txBox="1"/>
          <p:nvPr/>
        </p:nvSpPr>
        <p:spPr>
          <a:xfrm>
            <a:off x="941536" y="1512892"/>
            <a:ext cx="10360448" cy="4372928"/>
          </a:xfrm>
          <a:prstGeom prst="rect">
            <a:avLst/>
          </a:prstGeom>
          <a:noFill/>
        </p:spPr>
        <p:txBody>
          <a:bodyPr wrap="square" lIns="0" tIns="0" rIns="0" bIns="0" anchor="t">
            <a:spAutoFit/>
          </a:bodyPr>
          <a:lstStyle/>
          <a:p>
            <a:pPr marL="285750" indent="-285750" algn="just">
              <a:lnSpc>
                <a:spcPct val="150000"/>
              </a:lnSpc>
              <a:buClr>
                <a:srgbClr val="C00000"/>
              </a:buClr>
              <a:buFont typeface="Wingdings" panose="05000000000000000000" pitchFamily="2" charset="2"/>
              <a:buChar char="v"/>
            </a:pPr>
            <a:r>
              <a:rPr lang="pt-BR" sz="2400" b="0" i="1" u="none" dirty="0">
                <a:solidFill>
                  <a:srgbClr val="333333"/>
                </a:solidFill>
                <a:latin typeface="Open Sans"/>
              </a:rPr>
              <a:t>Imagine que você está organizando uma coleção de objetos. Você separa figurinhas, carrinhos, livros ou brinquedos em caixas diferentes. Cada caixa reúne apenas os objetos que possuem uma característica em comum. Na Matemática, cada uma dessas "caixas" é chamada de conjunto. </a:t>
            </a:r>
          </a:p>
          <a:p>
            <a:pPr marL="285750" indent="-285750" algn="just">
              <a:lnSpc>
                <a:spcPct val="150000"/>
              </a:lnSpc>
              <a:buClr>
                <a:srgbClr val="C00000"/>
              </a:buClr>
              <a:buFont typeface="Wingdings" panose="05000000000000000000" pitchFamily="2" charset="2"/>
              <a:buChar char="v"/>
            </a:pPr>
            <a:r>
              <a:rPr lang="pt-BR" sz="2400" b="0" i="1" u="none" dirty="0">
                <a:solidFill>
                  <a:srgbClr val="333333"/>
                </a:solidFill>
                <a:latin typeface="Open Sans"/>
              </a:rPr>
              <a:t>Conjunto é uma coleção bem definida de elementos que compartilham alguma característica em comum. A Teoria dos Conjuntos fornece as regras para organizar, comparar e relacionar esses grupos de elementos.</a:t>
            </a:r>
            <a:endParaRPr lang="pt-BR" sz="2400" i="1" dirty="0">
              <a:solidFill>
                <a:srgbClr val="333333"/>
              </a:solidFill>
              <a:latin typeface="Open Sans"/>
            </a:endParaRPr>
          </a:p>
        </p:txBody>
      </p:sp>
    </p:spTree>
    <p:extLst>
      <p:ext uri="{BB962C8B-B14F-4D97-AF65-F5344CB8AC3E}">
        <p14:creationId xmlns:p14="http://schemas.microsoft.com/office/powerpoint/2010/main" val="3684939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2761C-254B-FE54-8A67-B7565E42D01C}"/>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24A75E81-4AFE-5825-AE43-613C793F45ED}"/>
              </a:ext>
            </a:extLst>
          </p:cNvPr>
          <p:cNvSpPr/>
          <p:nvPr/>
        </p:nvSpPr>
        <p:spPr>
          <a:xfrm>
            <a:off x="0" y="2165684"/>
            <a:ext cx="12089331" cy="1735696"/>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pt-BR"/>
          </a:p>
        </p:txBody>
      </p:sp>
      <p:pic>
        <p:nvPicPr>
          <p:cNvPr id="2" name="Picture 1" descr="image.png">
            <a:extLst>
              <a:ext uri="{FF2B5EF4-FFF2-40B4-BE49-F238E27FC236}">
                <a16:creationId xmlns:a16="http://schemas.microsoft.com/office/drawing/2014/main" id="{C3C1BE1E-496C-3D66-A771-E1284641A179}"/>
              </a:ext>
            </a:extLst>
          </p:cNvPr>
          <p:cNvPicPr>
            <a:picLocks noChangeAspect="1"/>
          </p:cNvPicPr>
          <p:nvPr/>
        </p:nvPicPr>
        <p:blipFill>
          <a:blip r:embed="rId2"/>
          <a:stretch/>
        </p:blipFill>
        <p:spPr>
          <a:xfrm>
            <a:off x="0" y="0"/>
            <a:ext cx="12192000" cy="6858000"/>
          </a:xfrm>
          <a:prstGeom prst="rect">
            <a:avLst/>
          </a:prstGeom>
          <a:solidFill>
            <a:schemeClr val="bg1"/>
          </a:solidFill>
        </p:spPr>
      </p:pic>
      <p:sp>
        <p:nvSpPr>
          <p:cNvPr id="3" name="TextBox 2">
            <a:extLst>
              <a:ext uri="{FF2B5EF4-FFF2-40B4-BE49-F238E27FC236}">
                <a16:creationId xmlns:a16="http://schemas.microsoft.com/office/drawing/2014/main" id="{3C71C652-D491-ABD7-C3CD-1BF87180D232}"/>
              </a:ext>
            </a:extLst>
          </p:cNvPr>
          <p:cNvSpPr txBox="1"/>
          <p:nvPr/>
        </p:nvSpPr>
        <p:spPr>
          <a:xfrm>
            <a:off x="0" y="3037451"/>
            <a:ext cx="12192000" cy="679673"/>
          </a:xfrm>
          <a:prstGeom prst="rect">
            <a:avLst/>
          </a:prstGeom>
          <a:noFill/>
        </p:spPr>
        <p:txBody>
          <a:bodyPr wrap="square" lIns="0" tIns="0" rIns="0" bIns="0" anchor="t">
            <a:spAutoFit/>
          </a:bodyPr>
          <a:lstStyle/>
          <a:p>
            <a:pPr algn="ctr">
              <a:lnSpc>
                <a:spcPts val="5280"/>
              </a:lnSpc>
            </a:pPr>
            <a:r>
              <a:rPr lang="pt-BR" sz="4800" b="1" dirty="0">
                <a:latin typeface="Montserrat"/>
              </a:rPr>
              <a:t>NOTAÇÃO</a:t>
            </a:r>
            <a:endParaRPr sz="4800" b="1" i="0" u="none" dirty="0">
              <a:latin typeface="Montserrat"/>
            </a:endParaRPr>
          </a:p>
        </p:txBody>
      </p:sp>
      <p:sp>
        <p:nvSpPr>
          <p:cNvPr id="16" name="Retângulo 15">
            <a:extLst>
              <a:ext uri="{FF2B5EF4-FFF2-40B4-BE49-F238E27FC236}">
                <a16:creationId xmlns:a16="http://schemas.microsoft.com/office/drawing/2014/main" id="{5279467C-A284-595F-B1C6-A4D4B7C39185}"/>
              </a:ext>
            </a:extLst>
          </p:cNvPr>
          <p:cNvSpPr/>
          <p:nvPr/>
        </p:nvSpPr>
        <p:spPr>
          <a:xfrm>
            <a:off x="-1" y="6271319"/>
            <a:ext cx="12183229" cy="574570"/>
          </a:xfrm>
          <a:prstGeom prst="rect">
            <a:avLst/>
          </a:prstGeom>
          <a:solidFill>
            <a:schemeClr val="tx1"/>
          </a:solidFill>
          <a:ln w="38100">
            <a:no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 name="Conector reto 14">
            <a:extLst>
              <a:ext uri="{FF2B5EF4-FFF2-40B4-BE49-F238E27FC236}">
                <a16:creationId xmlns:a16="http://schemas.microsoft.com/office/drawing/2014/main" id="{370A937F-F763-0035-F8DE-BF8CFABE3BA8}"/>
              </a:ext>
            </a:extLst>
          </p:cNvPr>
          <p:cNvCxnSpPr>
            <a:cxnSpLocks/>
          </p:cNvCxnSpPr>
          <p:nvPr/>
        </p:nvCxnSpPr>
        <p:spPr>
          <a:xfrm>
            <a:off x="0" y="2414016"/>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cxnSp>
        <p:nvCxnSpPr>
          <p:cNvPr id="7" name="Conector reto 14">
            <a:extLst>
              <a:ext uri="{FF2B5EF4-FFF2-40B4-BE49-F238E27FC236}">
                <a16:creationId xmlns:a16="http://schemas.microsoft.com/office/drawing/2014/main" id="{00C9C9B0-D3CB-4DEB-4D77-270EC7C084CC}"/>
              </a:ext>
            </a:extLst>
          </p:cNvPr>
          <p:cNvCxnSpPr>
            <a:cxnSpLocks/>
          </p:cNvCxnSpPr>
          <p:nvPr/>
        </p:nvCxnSpPr>
        <p:spPr>
          <a:xfrm>
            <a:off x="0" y="4178808"/>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690156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A4211-F7AF-A546-5448-A2EC87D97548}"/>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4300836E-1BBB-7B23-0C48-522F972C873C}"/>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D77C97CB-1A15-6EC9-EDE0-BC48ACBB3962}"/>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dirty="0">
                <a:solidFill>
                  <a:srgbClr val="121212"/>
                </a:solidFill>
                <a:latin typeface="Montserrat"/>
              </a:rPr>
              <a:t>NOTAÇÃO</a:t>
            </a:r>
            <a:endParaRPr lang="pt-BR" sz="3300" b="1" i="0" u="none" dirty="0">
              <a:solidFill>
                <a:srgbClr val="121212"/>
              </a:solidFill>
              <a:latin typeface="Montserrat"/>
            </a:endParaRPr>
          </a:p>
        </p:txBody>
      </p:sp>
      <p:pic>
        <p:nvPicPr>
          <p:cNvPr id="6" name="Picture 2" descr="image.png">
            <a:extLst>
              <a:ext uri="{FF2B5EF4-FFF2-40B4-BE49-F238E27FC236}">
                <a16:creationId xmlns:a16="http://schemas.microsoft.com/office/drawing/2014/main" id="{8E061085-CC22-B058-B36F-093436A5BFE0}"/>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D8DF4000-1ED4-5A4B-F04B-AD060784DC00}"/>
              </a:ext>
            </a:extLst>
          </p:cNvPr>
          <p:cNvSpPr txBox="1"/>
          <p:nvPr/>
        </p:nvSpPr>
        <p:spPr>
          <a:xfrm>
            <a:off x="941536" y="1512892"/>
            <a:ext cx="10360448" cy="4326762"/>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A notação que usamos para conjuntos é sempre uma letra maíuscula do nosso alfabeto (por exemplo, conjunto A ou conjunto B).</a:t>
            </a:r>
          </a:p>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 Em se tratando da representação de conjuntos, ela pode ser feita pelo </a:t>
            </a:r>
            <a:r>
              <a:rPr lang="pt-BR" sz="2400" i="1" dirty="0">
                <a:solidFill>
                  <a:srgbClr val="C00000"/>
                </a:solidFill>
                <a:latin typeface="Open Sans"/>
              </a:rPr>
              <a:t>diagrama de Venn</a:t>
            </a:r>
            <a:r>
              <a:rPr lang="pt-BR" sz="2400" i="1" dirty="0">
                <a:solidFill>
                  <a:srgbClr val="333333"/>
                </a:solidFill>
                <a:latin typeface="Open Sans"/>
              </a:rPr>
              <a:t>, pela simples </a:t>
            </a:r>
            <a:r>
              <a:rPr lang="pt-BR" sz="2400" i="1" dirty="0">
                <a:solidFill>
                  <a:srgbClr val="C00000"/>
                </a:solidFill>
                <a:latin typeface="Open Sans"/>
              </a:rPr>
              <a:t>descrição das características</a:t>
            </a:r>
            <a:r>
              <a:rPr lang="pt-BR" sz="2400" i="1" dirty="0">
                <a:solidFill>
                  <a:srgbClr val="333333"/>
                </a:solidFill>
                <a:latin typeface="Open Sans"/>
              </a:rPr>
              <a:t> dos seus elementos, pela </a:t>
            </a:r>
            <a:r>
              <a:rPr lang="pt-BR" sz="2400" i="1" dirty="0">
                <a:solidFill>
                  <a:srgbClr val="C00000"/>
                </a:solidFill>
                <a:latin typeface="Open Sans"/>
              </a:rPr>
              <a:t>enumeração dos elementos </a:t>
            </a:r>
            <a:r>
              <a:rPr lang="pt-BR" sz="2400" i="1" dirty="0">
                <a:solidFill>
                  <a:srgbClr val="333333"/>
                </a:solidFill>
                <a:latin typeface="Open Sans"/>
              </a:rPr>
              <a:t>ou pela </a:t>
            </a:r>
            <a:r>
              <a:rPr lang="pt-BR" sz="2400" i="1" dirty="0">
                <a:solidFill>
                  <a:srgbClr val="C00000"/>
                </a:solidFill>
                <a:latin typeface="Open Sans"/>
              </a:rPr>
              <a:t>descrição das suas propriedades</a:t>
            </a:r>
            <a:r>
              <a:rPr lang="pt-BR" sz="2400" i="1" dirty="0">
                <a:solidFill>
                  <a:srgbClr val="333333"/>
                </a:solidFill>
                <a:latin typeface="Open Sans"/>
              </a:rPr>
              <a:t>.</a:t>
            </a:r>
          </a:p>
        </p:txBody>
      </p:sp>
    </p:spTree>
    <p:extLst>
      <p:ext uri="{BB962C8B-B14F-4D97-AF65-F5344CB8AC3E}">
        <p14:creationId xmlns:p14="http://schemas.microsoft.com/office/powerpoint/2010/main" val="4219594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B47EF-71D0-F0B9-90A5-B23F56690952}"/>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CE5DB4C0-7AA4-BCA1-6797-2AEDD18A2ADF}"/>
              </a:ext>
            </a:extLst>
          </p:cNvPr>
          <p:cNvSpPr/>
          <p:nvPr/>
        </p:nvSpPr>
        <p:spPr>
          <a:xfrm>
            <a:off x="0" y="2165684"/>
            <a:ext cx="12089331" cy="1735696"/>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pt-BR"/>
          </a:p>
        </p:txBody>
      </p:sp>
      <p:pic>
        <p:nvPicPr>
          <p:cNvPr id="2" name="Picture 1" descr="image.png">
            <a:extLst>
              <a:ext uri="{FF2B5EF4-FFF2-40B4-BE49-F238E27FC236}">
                <a16:creationId xmlns:a16="http://schemas.microsoft.com/office/drawing/2014/main" id="{0AA4C109-4A4C-85BD-22BC-96FD6CC3683B}"/>
              </a:ext>
            </a:extLst>
          </p:cNvPr>
          <p:cNvPicPr>
            <a:picLocks noChangeAspect="1"/>
          </p:cNvPicPr>
          <p:nvPr/>
        </p:nvPicPr>
        <p:blipFill>
          <a:blip r:embed="rId2"/>
          <a:stretch/>
        </p:blipFill>
        <p:spPr>
          <a:xfrm>
            <a:off x="0" y="0"/>
            <a:ext cx="12192000" cy="6858000"/>
          </a:xfrm>
          <a:prstGeom prst="rect">
            <a:avLst/>
          </a:prstGeom>
          <a:solidFill>
            <a:schemeClr val="bg1"/>
          </a:solidFill>
        </p:spPr>
      </p:pic>
      <p:sp>
        <p:nvSpPr>
          <p:cNvPr id="3" name="TextBox 2">
            <a:extLst>
              <a:ext uri="{FF2B5EF4-FFF2-40B4-BE49-F238E27FC236}">
                <a16:creationId xmlns:a16="http://schemas.microsoft.com/office/drawing/2014/main" id="{530CBF46-BB00-3844-3BFE-EFE16782ABBB}"/>
              </a:ext>
            </a:extLst>
          </p:cNvPr>
          <p:cNvSpPr txBox="1"/>
          <p:nvPr/>
        </p:nvSpPr>
        <p:spPr>
          <a:xfrm>
            <a:off x="0" y="3037451"/>
            <a:ext cx="12192000" cy="679673"/>
          </a:xfrm>
          <a:prstGeom prst="rect">
            <a:avLst/>
          </a:prstGeom>
          <a:noFill/>
        </p:spPr>
        <p:txBody>
          <a:bodyPr wrap="square" lIns="0" tIns="0" rIns="0" bIns="0" anchor="t">
            <a:spAutoFit/>
          </a:bodyPr>
          <a:lstStyle/>
          <a:p>
            <a:pPr algn="ctr">
              <a:lnSpc>
                <a:spcPts val="5280"/>
              </a:lnSpc>
            </a:pPr>
            <a:r>
              <a:rPr lang="pt-BR" sz="4800" b="1" dirty="0">
                <a:latin typeface="Montserrat"/>
              </a:rPr>
              <a:t>FORMAS DE REPRESENTAÇÃO</a:t>
            </a:r>
            <a:endParaRPr sz="4800" b="1" i="0" u="none" dirty="0">
              <a:latin typeface="Montserrat"/>
            </a:endParaRPr>
          </a:p>
        </p:txBody>
      </p:sp>
      <p:sp>
        <p:nvSpPr>
          <p:cNvPr id="16" name="Retângulo 15">
            <a:extLst>
              <a:ext uri="{FF2B5EF4-FFF2-40B4-BE49-F238E27FC236}">
                <a16:creationId xmlns:a16="http://schemas.microsoft.com/office/drawing/2014/main" id="{6FF60E30-2419-84F2-DF72-F5F7560BD4BA}"/>
              </a:ext>
            </a:extLst>
          </p:cNvPr>
          <p:cNvSpPr/>
          <p:nvPr/>
        </p:nvSpPr>
        <p:spPr>
          <a:xfrm>
            <a:off x="-1" y="6271319"/>
            <a:ext cx="12183229" cy="574570"/>
          </a:xfrm>
          <a:prstGeom prst="rect">
            <a:avLst/>
          </a:prstGeom>
          <a:solidFill>
            <a:schemeClr val="tx1"/>
          </a:solidFill>
          <a:ln w="38100">
            <a:no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 name="Conector reto 14">
            <a:extLst>
              <a:ext uri="{FF2B5EF4-FFF2-40B4-BE49-F238E27FC236}">
                <a16:creationId xmlns:a16="http://schemas.microsoft.com/office/drawing/2014/main" id="{D2ECDC18-3175-E8EF-6949-3DAB4D3D3236}"/>
              </a:ext>
            </a:extLst>
          </p:cNvPr>
          <p:cNvCxnSpPr>
            <a:cxnSpLocks/>
          </p:cNvCxnSpPr>
          <p:nvPr/>
        </p:nvCxnSpPr>
        <p:spPr>
          <a:xfrm>
            <a:off x="0" y="2414016"/>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cxnSp>
        <p:nvCxnSpPr>
          <p:cNvPr id="7" name="Conector reto 14">
            <a:extLst>
              <a:ext uri="{FF2B5EF4-FFF2-40B4-BE49-F238E27FC236}">
                <a16:creationId xmlns:a16="http://schemas.microsoft.com/office/drawing/2014/main" id="{47CB5190-6844-0FF1-2A6C-ECCFFB93E8D5}"/>
              </a:ext>
            </a:extLst>
          </p:cNvPr>
          <p:cNvCxnSpPr>
            <a:cxnSpLocks/>
          </p:cNvCxnSpPr>
          <p:nvPr/>
        </p:nvCxnSpPr>
        <p:spPr>
          <a:xfrm>
            <a:off x="0" y="4178808"/>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82498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6968B-39C2-CD08-1987-A3B6FF843D1B}"/>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3E93107E-7885-B080-0542-17F523B5455A}"/>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A46225E5-075A-375C-290A-F1293FD583ED}"/>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i="0" u="none" dirty="0">
                <a:solidFill>
                  <a:srgbClr val="121212"/>
                </a:solidFill>
                <a:latin typeface="Montserrat"/>
              </a:rPr>
              <a:t>REPRESENTAÇÃO POR ENUMERAÇÃO</a:t>
            </a:r>
          </a:p>
        </p:txBody>
      </p:sp>
      <p:pic>
        <p:nvPicPr>
          <p:cNvPr id="6" name="Picture 2" descr="image.png">
            <a:extLst>
              <a:ext uri="{FF2B5EF4-FFF2-40B4-BE49-F238E27FC236}">
                <a16:creationId xmlns:a16="http://schemas.microsoft.com/office/drawing/2014/main" id="{1E7C4A97-572A-91DB-E59C-5D1C03642713}"/>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B334C084-A91C-7435-272E-3C8BE68A4211}"/>
              </a:ext>
            </a:extLst>
          </p:cNvPr>
          <p:cNvSpPr txBox="1"/>
          <p:nvPr/>
        </p:nvSpPr>
        <p:spPr>
          <a:xfrm>
            <a:off x="941536" y="1512892"/>
            <a:ext cx="10360448" cy="4326762"/>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Podemos enumerar seus elementos, ou seja, fazer uma lista, sempre entre chaves. Por exemplo:</a:t>
            </a:r>
          </a:p>
          <a:p>
            <a:pPr marL="742950" lvl="1"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 A = {1, 5, 9, 12, 14, 20}</a:t>
            </a:r>
          </a:p>
          <a:p>
            <a:pPr marL="742950" lvl="1"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B = {0, 1, 2, 3, 4, 5, 6, 7, 8, 9}</a:t>
            </a:r>
          </a:p>
          <a:p>
            <a:pPr marL="742950" lvl="1"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C = {100, 102, 104, 106, 108}</a:t>
            </a:r>
          </a:p>
          <a:p>
            <a:pPr marL="742950" lvl="1"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D = {A, B, C, D, E, F}</a:t>
            </a:r>
          </a:p>
        </p:txBody>
      </p:sp>
    </p:spTree>
    <p:extLst>
      <p:ext uri="{BB962C8B-B14F-4D97-AF65-F5344CB8AC3E}">
        <p14:creationId xmlns:p14="http://schemas.microsoft.com/office/powerpoint/2010/main" val="2002169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12EA-6AB1-41A8-38CD-CDF6116B5EA8}"/>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CC5A0569-9F7D-E1D3-E438-44B9697FCB82}"/>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845F0C15-9D37-C3A7-5AFB-E737CDD41811}"/>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dirty="0">
                <a:solidFill>
                  <a:srgbClr val="121212"/>
                </a:solidFill>
                <a:latin typeface="Montserrat"/>
              </a:rPr>
              <a:t>DESCREVER CARACTERÍSTICAS</a:t>
            </a:r>
            <a:endParaRPr lang="pt-BR" sz="3300" b="1" i="0" u="none" dirty="0">
              <a:solidFill>
                <a:srgbClr val="121212"/>
              </a:solidFill>
              <a:latin typeface="Montserrat"/>
            </a:endParaRPr>
          </a:p>
        </p:txBody>
      </p:sp>
      <p:pic>
        <p:nvPicPr>
          <p:cNvPr id="6" name="Picture 2" descr="image.png">
            <a:extLst>
              <a:ext uri="{FF2B5EF4-FFF2-40B4-BE49-F238E27FC236}">
                <a16:creationId xmlns:a16="http://schemas.microsoft.com/office/drawing/2014/main" id="{B7D3AE7D-D1D9-15AC-F287-76957E385651}"/>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5C4D6684-CDAE-FC93-E828-5B0B0D1AB6F7}"/>
              </a:ext>
            </a:extLst>
          </p:cNvPr>
          <p:cNvSpPr txBox="1"/>
          <p:nvPr/>
        </p:nvSpPr>
        <p:spPr>
          <a:xfrm>
            <a:off x="941536" y="1512892"/>
            <a:ext cx="10360448" cy="4326762"/>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Podemos simplesmente descrever a característica do conjunto. Por exemplo:</a:t>
            </a:r>
          </a:p>
          <a:p>
            <a:pPr marL="742950" lvl="1"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 Seja X um conjunto, temos que X = { x é um número positivo múltiplo de 5}</a:t>
            </a:r>
          </a:p>
          <a:p>
            <a:pPr marL="742950" lvl="1"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Y: é o conjunto dos meses do ano</a:t>
            </a:r>
          </a:p>
          <a:p>
            <a:pPr marL="742950" lvl="1"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Z = { z é um dia da semana}</a:t>
            </a:r>
          </a:p>
        </p:txBody>
      </p:sp>
    </p:spTree>
    <p:extLst>
      <p:ext uri="{BB962C8B-B14F-4D97-AF65-F5344CB8AC3E}">
        <p14:creationId xmlns:p14="http://schemas.microsoft.com/office/powerpoint/2010/main" val="3357611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E873-2DC0-C271-BF7E-4B36ED8E11F9}"/>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A770BA53-97B7-1B4E-DD72-C36F0460E7D5}"/>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84AA0F7E-46C5-54F7-E410-A97794C610E8}"/>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dirty="0">
                <a:solidFill>
                  <a:srgbClr val="121212"/>
                </a:solidFill>
                <a:latin typeface="Montserrat"/>
              </a:rPr>
              <a:t>DIAGRAMA DE VENN</a:t>
            </a:r>
            <a:endParaRPr lang="pt-BR" sz="3300" b="1" i="0" u="none" dirty="0">
              <a:solidFill>
                <a:srgbClr val="121212"/>
              </a:solidFill>
              <a:latin typeface="Montserrat"/>
            </a:endParaRPr>
          </a:p>
        </p:txBody>
      </p:sp>
      <p:pic>
        <p:nvPicPr>
          <p:cNvPr id="6" name="Picture 2" descr="image.png">
            <a:extLst>
              <a:ext uri="{FF2B5EF4-FFF2-40B4-BE49-F238E27FC236}">
                <a16:creationId xmlns:a16="http://schemas.microsoft.com/office/drawing/2014/main" id="{B169F108-1D48-7261-1DD9-BC50FDB1CE6B}"/>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5C10BEBB-FE37-1280-3DCF-6E4B496E3911}"/>
              </a:ext>
            </a:extLst>
          </p:cNvPr>
          <p:cNvSpPr txBox="1"/>
          <p:nvPr/>
        </p:nvSpPr>
        <p:spPr>
          <a:xfrm>
            <a:off x="941536" y="1512892"/>
            <a:ext cx="10360448" cy="1372107"/>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Os conjuntos podem ser representados na forma de um diagrama, que é uma representação mais eficiente para a realização das operações.</a:t>
            </a:r>
          </a:p>
        </p:txBody>
      </p:sp>
      <p:pic>
        <p:nvPicPr>
          <p:cNvPr id="4" name="Picture 2">
            <a:extLst>
              <a:ext uri="{FF2B5EF4-FFF2-40B4-BE49-F238E27FC236}">
                <a16:creationId xmlns:a16="http://schemas.microsoft.com/office/drawing/2014/main" id="{F03957F2-0FFC-7E90-42FD-10BAF22B90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4543" y="3708103"/>
            <a:ext cx="2187770" cy="210984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Diagrama de Venn: o que é, para que serve, exemplos - Brasil Escola">
            <a:extLst>
              <a:ext uri="{FF2B5EF4-FFF2-40B4-BE49-F238E27FC236}">
                <a16:creationId xmlns:a16="http://schemas.microsoft.com/office/drawing/2014/main" id="{7B9891D5-3B7B-A852-5F4E-D69AFF4639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0875" y="3666145"/>
            <a:ext cx="2205751" cy="21937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Diagrama de Venn: o que é, para que serve, exemplos - Brasil Escola">
            <a:extLst>
              <a:ext uri="{FF2B5EF4-FFF2-40B4-BE49-F238E27FC236}">
                <a16:creationId xmlns:a16="http://schemas.microsoft.com/office/drawing/2014/main" id="{8A6BECC8-5CFA-4CDE-EE68-7B7436A553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5188" y="3861211"/>
            <a:ext cx="3056883" cy="1956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162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ED8D9-C386-B076-2E7C-243C2EE690C4}"/>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EC7F531E-BB74-0D9A-645D-743733330AEF}"/>
              </a:ext>
            </a:extLst>
          </p:cNvPr>
          <p:cNvSpPr/>
          <p:nvPr/>
        </p:nvSpPr>
        <p:spPr>
          <a:xfrm>
            <a:off x="0" y="2165684"/>
            <a:ext cx="12089331" cy="1735696"/>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pt-BR"/>
          </a:p>
        </p:txBody>
      </p:sp>
      <p:pic>
        <p:nvPicPr>
          <p:cNvPr id="2" name="Picture 1" descr="image.png">
            <a:extLst>
              <a:ext uri="{FF2B5EF4-FFF2-40B4-BE49-F238E27FC236}">
                <a16:creationId xmlns:a16="http://schemas.microsoft.com/office/drawing/2014/main" id="{7F0737A9-0BB6-4416-272E-B8E5EB28EE86}"/>
              </a:ext>
            </a:extLst>
          </p:cNvPr>
          <p:cNvPicPr>
            <a:picLocks noChangeAspect="1"/>
          </p:cNvPicPr>
          <p:nvPr/>
        </p:nvPicPr>
        <p:blipFill>
          <a:blip r:embed="rId2"/>
          <a:stretch/>
        </p:blipFill>
        <p:spPr>
          <a:xfrm>
            <a:off x="0" y="0"/>
            <a:ext cx="12192000" cy="6858000"/>
          </a:xfrm>
          <a:prstGeom prst="rect">
            <a:avLst/>
          </a:prstGeom>
          <a:solidFill>
            <a:schemeClr val="bg1"/>
          </a:solidFill>
        </p:spPr>
      </p:pic>
      <p:sp>
        <p:nvSpPr>
          <p:cNvPr id="3" name="TextBox 2">
            <a:extLst>
              <a:ext uri="{FF2B5EF4-FFF2-40B4-BE49-F238E27FC236}">
                <a16:creationId xmlns:a16="http://schemas.microsoft.com/office/drawing/2014/main" id="{B962213E-06F6-840E-D1C9-0E95A7F7A5AC}"/>
              </a:ext>
            </a:extLst>
          </p:cNvPr>
          <p:cNvSpPr txBox="1"/>
          <p:nvPr/>
        </p:nvSpPr>
        <p:spPr>
          <a:xfrm>
            <a:off x="0" y="3037451"/>
            <a:ext cx="12192000" cy="679673"/>
          </a:xfrm>
          <a:prstGeom prst="rect">
            <a:avLst/>
          </a:prstGeom>
          <a:noFill/>
        </p:spPr>
        <p:txBody>
          <a:bodyPr wrap="square" lIns="0" tIns="0" rIns="0" bIns="0" anchor="t">
            <a:spAutoFit/>
          </a:bodyPr>
          <a:lstStyle/>
          <a:p>
            <a:pPr algn="ctr">
              <a:lnSpc>
                <a:spcPts val="5280"/>
              </a:lnSpc>
            </a:pPr>
            <a:r>
              <a:rPr lang="pt-BR" sz="4800" b="1" dirty="0">
                <a:latin typeface="Montserrat"/>
              </a:rPr>
              <a:t>TIPOS DE RELAÇÃO</a:t>
            </a:r>
            <a:endParaRPr sz="4800" b="1" i="0" u="none" dirty="0">
              <a:latin typeface="Montserrat"/>
            </a:endParaRPr>
          </a:p>
        </p:txBody>
      </p:sp>
      <p:sp>
        <p:nvSpPr>
          <p:cNvPr id="16" name="Retângulo 15">
            <a:extLst>
              <a:ext uri="{FF2B5EF4-FFF2-40B4-BE49-F238E27FC236}">
                <a16:creationId xmlns:a16="http://schemas.microsoft.com/office/drawing/2014/main" id="{0E06B017-FB63-B073-35AB-70EDC3EFE85A}"/>
              </a:ext>
            </a:extLst>
          </p:cNvPr>
          <p:cNvSpPr/>
          <p:nvPr/>
        </p:nvSpPr>
        <p:spPr>
          <a:xfrm>
            <a:off x="-1" y="6271319"/>
            <a:ext cx="12183229" cy="574570"/>
          </a:xfrm>
          <a:prstGeom prst="rect">
            <a:avLst/>
          </a:prstGeom>
          <a:solidFill>
            <a:schemeClr val="tx1"/>
          </a:solidFill>
          <a:ln w="38100">
            <a:no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 name="Conector reto 14">
            <a:extLst>
              <a:ext uri="{FF2B5EF4-FFF2-40B4-BE49-F238E27FC236}">
                <a16:creationId xmlns:a16="http://schemas.microsoft.com/office/drawing/2014/main" id="{6C12D3C2-AD92-79BD-C352-4895976154A3}"/>
              </a:ext>
            </a:extLst>
          </p:cNvPr>
          <p:cNvCxnSpPr>
            <a:cxnSpLocks/>
          </p:cNvCxnSpPr>
          <p:nvPr/>
        </p:nvCxnSpPr>
        <p:spPr>
          <a:xfrm>
            <a:off x="0" y="2414016"/>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cxnSp>
        <p:nvCxnSpPr>
          <p:cNvPr id="7" name="Conector reto 14">
            <a:extLst>
              <a:ext uri="{FF2B5EF4-FFF2-40B4-BE49-F238E27FC236}">
                <a16:creationId xmlns:a16="http://schemas.microsoft.com/office/drawing/2014/main" id="{29BDDA85-5E31-61EE-821C-8BB36DD8CF57}"/>
              </a:ext>
            </a:extLst>
          </p:cNvPr>
          <p:cNvCxnSpPr>
            <a:cxnSpLocks/>
          </p:cNvCxnSpPr>
          <p:nvPr/>
        </p:nvCxnSpPr>
        <p:spPr>
          <a:xfrm>
            <a:off x="0" y="4178808"/>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750874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22B57-BDE4-5525-C815-F373AAF6C819}"/>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887B7C0F-382D-5EE1-25E7-F710372725B5}"/>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7857FABF-1709-7988-ED2D-B842E672D5BF}"/>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i="0" u="none" dirty="0">
                <a:solidFill>
                  <a:srgbClr val="121212"/>
                </a:solidFill>
                <a:latin typeface="Montserrat"/>
              </a:rPr>
              <a:t>RELAÇÃO DE PERTINÊNCIA</a:t>
            </a:r>
          </a:p>
        </p:txBody>
      </p:sp>
      <p:pic>
        <p:nvPicPr>
          <p:cNvPr id="6" name="Picture 2" descr="image.png">
            <a:extLst>
              <a:ext uri="{FF2B5EF4-FFF2-40B4-BE49-F238E27FC236}">
                <a16:creationId xmlns:a16="http://schemas.microsoft.com/office/drawing/2014/main" id="{B41A09CA-8A35-55D9-CB11-6D3B128F1327}"/>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B03CD316-DA47-28F5-7F13-12EC3B19EF4B}"/>
              </a:ext>
            </a:extLst>
          </p:cNvPr>
          <p:cNvSpPr txBox="1"/>
          <p:nvPr/>
        </p:nvSpPr>
        <p:spPr>
          <a:xfrm>
            <a:off x="941536" y="1512892"/>
            <a:ext cx="10360448" cy="4326121"/>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Dado um elemento qualquer, podemos dizer que o elemento pertence ao conjunto ou não pertence a esse conjunto. Para representar essa relação de pertinência de forma mais rápida, utilizamos os símbolos ϵ (lê-se pertence) e ∉ (lê-se não pertence).</a:t>
            </a:r>
          </a:p>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Por exemplo, seja P o conjunto dos números pares, podemos dizer que o 7 ∉ P e que 12  ϵ P.</a:t>
            </a:r>
          </a:p>
        </p:txBody>
      </p:sp>
    </p:spTree>
    <p:extLst>
      <p:ext uri="{BB962C8B-B14F-4D97-AF65-F5344CB8AC3E}">
        <p14:creationId xmlns:p14="http://schemas.microsoft.com/office/powerpoint/2010/main" val="929196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7D213-23E2-50B8-129A-A0FC8393B040}"/>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3364BF0C-D4E7-9A70-A3FD-44588042034E}"/>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B4781B87-CEB7-D39C-2742-37E6737A4E6E}"/>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i="0" u="none" dirty="0">
                <a:solidFill>
                  <a:srgbClr val="121212"/>
                </a:solidFill>
                <a:latin typeface="Montserrat"/>
              </a:rPr>
              <a:t>RELAÇÃO DE IGUALDADE DE CONJUNTOS</a:t>
            </a:r>
          </a:p>
        </p:txBody>
      </p:sp>
      <p:pic>
        <p:nvPicPr>
          <p:cNvPr id="6" name="Picture 2" descr="image.png">
            <a:extLst>
              <a:ext uri="{FF2B5EF4-FFF2-40B4-BE49-F238E27FC236}">
                <a16:creationId xmlns:a16="http://schemas.microsoft.com/office/drawing/2014/main" id="{F8AF510E-2BF6-B087-E570-31DDB3831E8F}"/>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5F8E1729-AFD4-73CD-3E63-A7C9E65F348C}"/>
              </a:ext>
            </a:extLst>
          </p:cNvPr>
          <p:cNvSpPr txBox="1"/>
          <p:nvPr/>
        </p:nvSpPr>
        <p:spPr>
          <a:xfrm>
            <a:off x="941536" y="1512892"/>
            <a:ext cx="10360448" cy="2110771"/>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Dois conjuntos serão iguais se, e somente se, apresentarem os mesmos elementos em qualquer que seja a ordem. Desse modo, os conjuntos a seguir são iguais:</a:t>
            </a:r>
          </a:p>
        </p:txBody>
      </p:sp>
      <p:pic>
        <p:nvPicPr>
          <p:cNvPr id="4" name="Imagem 3">
            <a:extLst>
              <a:ext uri="{FF2B5EF4-FFF2-40B4-BE49-F238E27FC236}">
                <a16:creationId xmlns:a16="http://schemas.microsoft.com/office/drawing/2014/main" id="{FB72514D-7B53-9650-C18F-9F48EAE16A29}"/>
              </a:ext>
            </a:extLst>
          </p:cNvPr>
          <p:cNvPicPr>
            <a:picLocks noChangeAspect="1"/>
          </p:cNvPicPr>
          <p:nvPr/>
        </p:nvPicPr>
        <p:blipFill>
          <a:blip r:embed="rId4"/>
          <a:stretch>
            <a:fillRect/>
          </a:stretch>
        </p:blipFill>
        <p:spPr>
          <a:xfrm>
            <a:off x="4163883" y="4170716"/>
            <a:ext cx="3864234" cy="1785744"/>
          </a:xfrm>
          <a:prstGeom prst="rect">
            <a:avLst/>
          </a:prstGeom>
          <a:ln w="38100">
            <a:solidFill>
              <a:srgbClr val="C00000"/>
            </a:solidFill>
          </a:ln>
        </p:spPr>
      </p:pic>
    </p:spTree>
    <p:extLst>
      <p:ext uri="{BB962C8B-B14F-4D97-AF65-F5344CB8AC3E}">
        <p14:creationId xmlns:p14="http://schemas.microsoft.com/office/powerpoint/2010/main" val="267882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D65BC-0A66-FD63-EDB1-0B96DFF1F22F}"/>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7138858D-7F9B-EA05-7EF0-383979C3B666}"/>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1AF39A3F-522A-F6B3-D079-514D96381AAC}"/>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i="0" u="none" dirty="0">
                <a:solidFill>
                  <a:srgbClr val="121212"/>
                </a:solidFill>
                <a:latin typeface="Montserrat"/>
              </a:rPr>
              <a:t>RELAÇÃO DE INCLUSÃO</a:t>
            </a:r>
          </a:p>
        </p:txBody>
      </p:sp>
      <p:pic>
        <p:nvPicPr>
          <p:cNvPr id="6" name="Picture 2" descr="image.png">
            <a:extLst>
              <a:ext uri="{FF2B5EF4-FFF2-40B4-BE49-F238E27FC236}">
                <a16:creationId xmlns:a16="http://schemas.microsoft.com/office/drawing/2014/main" id="{6E584F97-CD67-BDA5-175C-D7090ACFC4E1}"/>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86CDC9EB-2164-CDBC-1BCA-EC019B74E91C}"/>
              </a:ext>
            </a:extLst>
          </p:cNvPr>
          <p:cNvSpPr txBox="1"/>
          <p:nvPr/>
        </p:nvSpPr>
        <p:spPr>
          <a:xfrm>
            <a:off x="941536" y="1512892"/>
            <a:ext cx="10360448" cy="2110771"/>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Ao comparar dois conjuntos, podemos nos deparar com diversas relações, e uma delas é a relação de inclusão. Para essa relação, precisamos conhecer alguns símbolos:</a:t>
            </a:r>
          </a:p>
        </p:txBody>
      </p:sp>
      <p:pic>
        <p:nvPicPr>
          <p:cNvPr id="5" name="Picture 2">
            <a:extLst>
              <a:ext uri="{FF2B5EF4-FFF2-40B4-BE49-F238E27FC236}">
                <a16:creationId xmlns:a16="http://schemas.microsoft.com/office/drawing/2014/main" id="{5759A333-9E01-9C0F-735F-C9FBB66C2B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3684" y="4312358"/>
            <a:ext cx="6564631" cy="1570214"/>
          </a:xfrm>
          <a:prstGeom prst="rect">
            <a:avLst/>
          </a:prstGeom>
          <a:noFill/>
          <a:ln w="38100">
            <a:solidFill>
              <a:srgbClr val="C0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1736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2B941-93D9-D3A1-8882-AAB13070ACEC}"/>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64A2B953-1B25-3474-73B4-EE01488665C3}"/>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C2FDEF20-5D1B-06A7-6CAD-E67795DC7C6E}"/>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i="0" u="none" dirty="0">
                <a:solidFill>
                  <a:srgbClr val="121212"/>
                </a:solidFill>
                <a:latin typeface="Montserrat"/>
              </a:rPr>
              <a:t>RELAÇÃO DE INCLUSÃO</a:t>
            </a:r>
          </a:p>
        </p:txBody>
      </p:sp>
      <p:pic>
        <p:nvPicPr>
          <p:cNvPr id="6" name="Picture 2" descr="image.png">
            <a:extLst>
              <a:ext uri="{FF2B5EF4-FFF2-40B4-BE49-F238E27FC236}">
                <a16:creationId xmlns:a16="http://schemas.microsoft.com/office/drawing/2014/main" id="{8AAE3E2C-7CE5-6D95-BC31-1656E7054757}"/>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C90A344F-556B-A77C-49F2-1DC919D0397D}"/>
              </a:ext>
            </a:extLst>
          </p:cNvPr>
          <p:cNvSpPr txBox="1"/>
          <p:nvPr/>
        </p:nvSpPr>
        <p:spPr>
          <a:xfrm>
            <a:off x="941536" y="1512892"/>
            <a:ext cx="10360448" cy="2110771"/>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Quando todos os elementos de um conjunto A pertencem também a um conjunto B, dizemos que A ⊂ B ou que A está contido em B. Por exemplo, A={1,2,3} e B={1,2,3,4,5,6}. </a:t>
            </a:r>
          </a:p>
        </p:txBody>
      </p:sp>
      <p:pic>
        <p:nvPicPr>
          <p:cNvPr id="4" name="Picture 2">
            <a:extLst>
              <a:ext uri="{FF2B5EF4-FFF2-40B4-BE49-F238E27FC236}">
                <a16:creationId xmlns:a16="http://schemas.microsoft.com/office/drawing/2014/main" id="{788BE9AC-615E-A852-5A74-0BB3ED85D1F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719" b="18600"/>
          <a:stretch>
            <a:fillRect/>
          </a:stretch>
        </p:blipFill>
        <p:spPr bwMode="auto">
          <a:xfrm>
            <a:off x="4899561" y="3977621"/>
            <a:ext cx="2392877" cy="2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20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3FBEB-21E8-BF33-7631-8EA3613AA086}"/>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940EEF2D-BE5B-B906-3173-8FD75714C467}"/>
              </a:ext>
            </a:extLst>
          </p:cNvPr>
          <p:cNvSpPr/>
          <p:nvPr/>
        </p:nvSpPr>
        <p:spPr>
          <a:xfrm>
            <a:off x="0" y="2165684"/>
            <a:ext cx="12089331" cy="1735696"/>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pt-BR"/>
          </a:p>
        </p:txBody>
      </p:sp>
      <p:pic>
        <p:nvPicPr>
          <p:cNvPr id="2" name="Picture 1" descr="image.png">
            <a:extLst>
              <a:ext uri="{FF2B5EF4-FFF2-40B4-BE49-F238E27FC236}">
                <a16:creationId xmlns:a16="http://schemas.microsoft.com/office/drawing/2014/main" id="{30BDD203-8DED-13DA-A9AA-DD37F1E1B14B}"/>
              </a:ext>
            </a:extLst>
          </p:cNvPr>
          <p:cNvPicPr>
            <a:picLocks noChangeAspect="1"/>
          </p:cNvPicPr>
          <p:nvPr/>
        </p:nvPicPr>
        <p:blipFill>
          <a:blip r:embed="rId2"/>
          <a:stretch/>
        </p:blipFill>
        <p:spPr>
          <a:xfrm>
            <a:off x="0" y="0"/>
            <a:ext cx="12192000" cy="6858000"/>
          </a:xfrm>
          <a:prstGeom prst="rect">
            <a:avLst/>
          </a:prstGeom>
          <a:solidFill>
            <a:schemeClr val="bg1"/>
          </a:solidFill>
        </p:spPr>
      </p:pic>
      <p:sp>
        <p:nvSpPr>
          <p:cNvPr id="3" name="TextBox 2">
            <a:extLst>
              <a:ext uri="{FF2B5EF4-FFF2-40B4-BE49-F238E27FC236}">
                <a16:creationId xmlns:a16="http://schemas.microsoft.com/office/drawing/2014/main" id="{40F7F13A-27F0-60A0-6E1A-73B05C0A6E79}"/>
              </a:ext>
            </a:extLst>
          </p:cNvPr>
          <p:cNvSpPr txBox="1"/>
          <p:nvPr/>
        </p:nvSpPr>
        <p:spPr>
          <a:xfrm>
            <a:off x="0" y="3037451"/>
            <a:ext cx="12192000" cy="679673"/>
          </a:xfrm>
          <a:prstGeom prst="rect">
            <a:avLst/>
          </a:prstGeom>
          <a:noFill/>
        </p:spPr>
        <p:txBody>
          <a:bodyPr wrap="square" lIns="0" tIns="0" rIns="0" bIns="0" anchor="t">
            <a:spAutoFit/>
          </a:bodyPr>
          <a:lstStyle/>
          <a:p>
            <a:pPr algn="ctr">
              <a:lnSpc>
                <a:spcPts val="5280"/>
              </a:lnSpc>
            </a:pPr>
            <a:r>
              <a:rPr lang="pt-BR" sz="4800" b="1" i="0" u="none" dirty="0">
                <a:latin typeface="Montserrat"/>
              </a:rPr>
              <a:t>OPERAÇÕES</a:t>
            </a:r>
            <a:endParaRPr sz="4800" b="1" i="0" u="none" dirty="0">
              <a:latin typeface="Montserrat"/>
            </a:endParaRPr>
          </a:p>
        </p:txBody>
      </p:sp>
      <p:sp>
        <p:nvSpPr>
          <p:cNvPr id="16" name="Retângulo 15">
            <a:extLst>
              <a:ext uri="{FF2B5EF4-FFF2-40B4-BE49-F238E27FC236}">
                <a16:creationId xmlns:a16="http://schemas.microsoft.com/office/drawing/2014/main" id="{507028B5-99DE-8746-9000-F63FF236C81F}"/>
              </a:ext>
            </a:extLst>
          </p:cNvPr>
          <p:cNvSpPr/>
          <p:nvPr/>
        </p:nvSpPr>
        <p:spPr>
          <a:xfrm>
            <a:off x="-1" y="6271319"/>
            <a:ext cx="12183229" cy="574570"/>
          </a:xfrm>
          <a:prstGeom prst="rect">
            <a:avLst/>
          </a:prstGeom>
          <a:solidFill>
            <a:schemeClr val="tx1"/>
          </a:solidFill>
          <a:ln w="38100">
            <a:no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 name="Conector reto 14">
            <a:extLst>
              <a:ext uri="{FF2B5EF4-FFF2-40B4-BE49-F238E27FC236}">
                <a16:creationId xmlns:a16="http://schemas.microsoft.com/office/drawing/2014/main" id="{4EC60E42-CA0A-4B87-6ECB-5628AC50EC3B}"/>
              </a:ext>
            </a:extLst>
          </p:cNvPr>
          <p:cNvCxnSpPr>
            <a:cxnSpLocks/>
          </p:cNvCxnSpPr>
          <p:nvPr/>
        </p:nvCxnSpPr>
        <p:spPr>
          <a:xfrm>
            <a:off x="0" y="2414016"/>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cxnSp>
        <p:nvCxnSpPr>
          <p:cNvPr id="7" name="Conector reto 14">
            <a:extLst>
              <a:ext uri="{FF2B5EF4-FFF2-40B4-BE49-F238E27FC236}">
                <a16:creationId xmlns:a16="http://schemas.microsoft.com/office/drawing/2014/main" id="{F968528D-6C9F-3112-34EF-75C97C561893}"/>
              </a:ext>
            </a:extLst>
          </p:cNvPr>
          <p:cNvCxnSpPr>
            <a:cxnSpLocks/>
          </p:cNvCxnSpPr>
          <p:nvPr/>
        </p:nvCxnSpPr>
        <p:spPr>
          <a:xfrm>
            <a:off x="0" y="4178808"/>
            <a:ext cx="12183229" cy="0"/>
          </a:xfrm>
          <a:prstGeom prst="line">
            <a:avLst/>
          </a:prstGeom>
          <a:ln>
            <a:solidFill>
              <a:srgbClr val="C00000"/>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917350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62720-19F8-B915-DA1F-5D2B6BC95509}"/>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815C535D-DE8C-6B00-1CD7-887C097E7057}"/>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AA0D0123-2EFA-FC86-D732-2FA4063666F3}"/>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dirty="0">
                <a:solidFill>
                  <a:srgbClr val="121212"/>
                </a:solidFill>
                <a:latin typeface="Montserrat"/>
              </a:rPr>
              <a:t>UNIÃO</a:t>
            </a:r>
            <a:endParaRPr lang="pt-BR" sz="3300" b="1" i="0" u="none" dirty="0">
              <a:solidFill>
                <a:srgbClr val="121212"/>
              </a:solidFill>
              <a:latin typeface="Montserrat"/>
            </a:endParaRPr>
          </a:p>
        </p:txBody>
      </p:sp>
      <p:pic>
        <p:nvPicPr>
          <p:cNvPr id="6" name="Picture 2" descr="image.png">
            <a:extLst>
              <a:ext uri="{FF2B5EF4-FFF2-40B4-BE49-F238E27FC236}">
                <a16:creationId xmlns:a16="http://schemas.microsoft.com/office/drawing/2014/main" id="{095EF396-E0FA-056C-AFD4-D5A329DE0CA8}"/>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07778D9B-57C2-3D14-5E66-C54E3F6D6821}"/>
              </a:ext>
            </a:extLst>
          </p:cNvPr>
          <p:cNvSpPr txBox="1"/>
          <p:nvPr/>
        </p:nvSpPr>
        <p:spPr>
          <a:xfrm>
            <a:off x="941536" y="1512892"/>
            <a:ext cx="10360448" cy="1372107"/>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Considere dois conjuntos A e B, a união entre eles será um novo conjunto formado por elementos de A ou elementos de B.</a:t>
            </a:r>
          </a:p>
        </p:txBody>
      </p:sp>
      <p:pic>
        <p:nvPicPr>
          <p:cNvPr id="4" name="Picture 2" descr="Operações com conjuntos: saiba como resolver - Mundo Educação">
            <a:extLst>
              <a:ext uri="{FF2B5EF4-FFF2-40B4-BE49-F238E27FC236}">
                <a16:creationId xmlns:a16="http://schemas.microsoft.com/office/drawing/2014/main" id="{04C5859C-73E0-2ACC-19D2-08712CC6CC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5325" y="3444781"/>
            <a:ext cx="3181350" cy="2460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412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7FA4-6739-AB40-D0E5-3778DC1A57D0}"/>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8D30FEB2-7DA2-E170-2964-A26F9AA7B378}"/>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36321130-2BA9-2CED-4806-654AD9AE4FC0}"/>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dirty="0">
                <a:solidFill>
                  <a:srgbClr val="121212"/>
                </a:solidFill>
                <a:latin typeface="Montserrat"/>
              </a:rPr>
              <a:t>UNIÃO</a:t>
            </a:r>
            <a:endParaRPr lang="pt-BR" sz="3300" b="1" i="0" u="none" dirty="0">
              <a:solidFill>
                <a:srgbClr val="121212"/>
              </a:solidFill>
              <a:latin typeface="Montserrat"/>
            </a:endParaRPr>
          </a:p>
        </p:txBody>
      </p:sp>
      <p:pic>
        <p:nvPicPr>
          <p:cNvPr id="6" name="Picture 2" descr="image.png">
            <a:extLst>
              <a:ext uri="{FF2B5EF4-FFF2-40B4-BE49-F238E27FC236}">
                <a16:creationId xmlns:a16="http://schemas.microsoft.com/office/drawing/2014/main" id="{A9243A6F-130A-61B6-DC2C-D631EE3FD775}"/>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CFD36125-F6CD-06C9-A626-81B42E6210C0}"/>
              </a:ext>
            </a:extLst>
          </p:cNvPr>
          <p:cNvSpPr txBox="1"/>
          <p:nvPr/>
        </p:nvSpPr>
        <p:spPr>
          <a:xfrm>
            <a:off x="941536" y="1512892"/>
            <a:ext cx="10360448" cy="2110771"/>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Para determinar o conjunto união, entre os conjuntos A ={a, b, c, d, e} e B = {c, d, e, f, g}, basta escrever o conjunto formado por todos os elementos de A e B, assim:</a:t>
            </a:r>
          </a:p>
        </p:txBody>
      </p:sp>
      <p:pic>
        <p:nvPicPr>
          <p:cNvPr id="5" name="Imagem 3">
            <a:extLst>
              <a:ext uri="{FF2B5EF4-FFF2-40B4-BE49-F238E27FC236}">
                <a16:creationId xmlns:a16="http://schemas.microsoft.com/office/drawing/2014/main" id="{232AFE0B-6C99-9D5A-2A93-C9C4139D79C6}"/>
              </a:ext>
            </a:extLst>
          </p:cNvPr>
          <p:cNvPicPr>
            <a:picLocks noChangeAspect="1"/>
          </p:cNvPicPr>
          <p:nvPr/>
        </p:nvPicPr>
        <p:blipFill>
          <a:blip r:embed="rId4"/>
          <a:stretch>
            <a:fillRect/>
          </a:stretch>
        </p:blipFill>
        <p:spPr>
          <a:xfrm>
            <a:off x="2261619" y="4195387"/>
            <a:ext cx="7720281" cy="1309688"/>
          </a:xfrm>
          <a:prstGeom prst="rect">
            <a:avLst/>
          </a:prstGeom>
          <a:solidFill>
            <a:srgbClr val="C00000"/>
          </a:solidFill>
          <a:ln w="38100">
            <a:solidFill>
              <a:srgbClr val="C00000"/>
            </a:solidFill>
          </a:ln>
        </p:spPr>
      </p:pic>
    </p:spTree>
    <p:extLst>
      <p:ext uri="{BB962C8B-B14F-4D97-AF65-F5344CB8AC3E}">
        <p14:creationId xmlns:p14="http://schemas.microsoft.com/office/powerpoint/2010/main" val="4112683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AD9B-7607-F5EB-A3BE-D801E341B941}"/>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736C9121-32CC-F0AB-6D5B-8A5B5966A24A}"/>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10C6EAE1-C952-6CD7-98AD-2AC2772E58A4}"/>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i="0" u="none" dirty="0">
                <a:solidFill>
                  <a:srgbClr val="121212"/>
                </a:solidFill>
                <a:latin typeface="Montserrat"/>
              </a:rPr>
              <a:t>INTERSECÇÃO</a:t>
            </a:r>
          </a:p>
        </p:txBody>
      </p:sp>
      <p:pic>
        <p:nvPicPr>
          <p:cNvPr id="6" name="Picture 2" descr="image.png">
            <a:extLst>
              <a:ext uri="{FF2B5EF4-FFF2-40B4-BE49-F238E27FC236}">
                <a16:creationId xmlns:a16="http://schemas.microsoft.com/office/drawing/2014/main" id="{43B97881-8CD5-0113-F42C-3BD1825DFA53}"/>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3914EA53-4E64-3F2B-426B-E300C06C639E}"/>
              </a:ext>
            </a:extLst>
          </p:cNvPr>
          <p:cNvSpPr txBox="1"/>
          <p:nvPr/>
        </p:nvSpPr>
        <p:spPr>
          <a:xfrm>
            <a:off x="941536" y="1512892"/>
            <a:ext cx="10360448" cy="2110771"/>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Para determinar o conjunto união, entre os conjuntos A ={a, b, c, d, e} e B = {c, d, e, f, g}, basta escrever o conjunto formado por todos os elementos de A e B, assim:</a:t>
            </a:r>
          </a:p>
        </p:txBody>
      </p:sp>
      <p:pic>
        <p:nvPicPr>
          <p:cNvPr id="7" name="Picture 6" descr="Operações com conjuntos: quais são e como resolver - Brasil ...">
            <a:extLst>
              <a:ext uri="{FF2B5EF4-FFF2-40B4-BE49-F238E27FC236}">
                <a16:creationId xmlns:a16="http://schemas.microsoft.com/office/drawing/2014/main" id="{3183C5B8-C9DF-B1C0-0C54-60689D8C8330}"/>
              </a:ext>
            </a:extLst>
          </p:cNvPr>
          <p:cNvPicPr>
            <a:picLocks noChangeAspect="1"/>
          </p:cNvPicPr>
          <p:nvPr/>
        </p:nvPicPr>
        <p:blipFill>
          <a:blip r:embed="rId4">
            <a:duotone>
              <a:schemeClr val="accent2">
                <a:shade val="45000"/>
                <a:satMod val="135000"/>
              </a:schemeClr>
              <a:prstClr val="white"/>
            </a:duotone>
          </a:blip>
          <a:stretch>
            <a:fillRect/>
          </a:stretch>
        </p:blipFill>
        <p:spPr>
          <a:xfrm>
            <a:off x="4028353" y="3753040"/>
            <a:ext cx="4164245" cy="2410016"/>
          </a:xfrm>
          <a:prstGeom prst="rect">
            <a:avLst/>
          </a:prstGeom>
        </p:spPr>
      </p:pic>
    </p:spTree>
    <p:extLst>
      <p:ext uri="{BB962C8B-B14F-4D97-AF65-F5344CB8AC3E}">
        <p14:creationId xmlns:p14="http://schemas.microsoft.com/office/powerpoint/2010/main" val="2143168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A0727-BAFE-0564-F895-EFC44CBD848E}"/>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F1967E59-0E2F-9FA6-A861-ABDFD9181155}"/>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2D7ED962-0AAC-39B6-E7F6-22A8100982F4}"/>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i="0" u="none" dirty="0">
                <a:solidFill>
                  <a:srgbClr val="121212"/>
                </a:solidFill>
                <a:latin typeface="Montserrat"/>
              </a:rPr>
              <a:t>INTERSECÇÃO</a:t>
            </a:r>
          </a:p>
        </p:txBody>
      </p:sp>
      <p:pic>
        <p:nvPicPr>
          <p:cNvPr id="6" name="Picture 2" descr="image.png">
            <a:extLst>
              <a:ext uri="{FF2B5EF4-FFF2-40B4-BE49-F238E27FC236}">
                <a16:creationId xmlns:a16="http://schemas.microsoft.com/office/drawing/2014/main" id="{BFE5F243-A9DA-485B-E6E7-275E4B53B6F3}"/>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AAF4C102-0848-C8B0-1125-F858DBE45257}"/>
              </a:ext>
            </a:extLst>
          </p:cNvPr>
          <p:cNvSpPr txBox="1"/>
          <p:nvPr/>
        </p:nvSpPr>
        <p:spPr>
          <a:xfrm>
            <a:off x="941536" y="1512892"/>
            <a:ext cx="10360448" cy="2110771"/>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Para determinar o conjunto intersecção, entre os conjuntos A ={a, b, c, d, e} e B = {c, d, e, f, g}, devemos encontrar os elementos que pertencem simultaneamente aos dois conjuntos.</a:t>
            </a:r>
          </a:p>
        </p:txBody>
      </p:sp>
      <p:pic>
        <p:nvPicPr>
          <p:cNvPr id="4" name="Imagem 3">
            <a:extLst>
              <a:ext uri="{FF2B5EF4-FFF2-40B4-BE49-F238E27FC236}">
                <a16:creationId xmlns:a16="http://schemas.microsoft.com/office/drawing/2014/main" id="{3D8AAEE8-108B-0BE7-D46A-090412F23705}"/>
              </a:ext>
            </a:extLst>
          </p:cNvPr>
          <p:cNvPicPr>
            <a:picLocks noChangeAspect="1"/>
          </p:cNvPicPr>
          <p:nvPr/>
        </p:nvPicPr>
        <p:blipFill>
          <a:blip r:embed="rId4"/>
          <a:stretch>
            <a:fillRect/>
          </a:stretch>
        </p:blipFill>
        <p:spPr>
          <a:xfrm>
            <a:off x="3787994" y="4317614"/>
            <a:ext cx="4616012" cy="1065233"/>
          </a:xfrm>
          <a:prstGeom prst="rect">
            <a:avLst/>
          </a:prstGeom>
          <a:ln w="28575">
            <a:solidFill>
              <a:srgbClr val="C00000"/>
            </a:solidFill>
          </a:ln>
        </p:spPr>
      </p:pic>
    </p:spTree>
    <p:extLst>
      <p:ext uri="{BB962C8B-B14F-4D97-AF65-F5344CB8AC3E}">
        <p14:creationId xmlns:p14="http://schemas.microsoft.com/office/powerpoint/2010/main" val="1412871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6C4D9-5F85-53E7-7287-8CE951EDB061}"/>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03D918E7-3716-3D2E-6741-881FE3FF0BCD}"/>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FFECD94E-C90A-DB98-E59A-2B2A21FF3FE0}"/>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dirty="0">
                <a:solidFill>
                  <a:srgbClr val="121212"/>
                </a:solidFill>
                <a:latin typeface="Montserrat"/>
              </a:rPr>
              <a:t>DIFERENÇA</a:t>
            </a:r>
            <a:endParaRPr lang="pt-BR" sz="3300" b="1" i="0" u="none" dirty="0">
              <a:solidFill>
                <a:srgbClr val="121212"/>
              </a:solidFill>
              <a:latin typeface="Montserrat"/>
            </a:endParaRPr>
          </a:p>
        </p:txBody>
      </p:sp>
      <p:pic>
        <p:nvPicPr>
          <p:cNvPr id="6" name="Picture 2" descr="image.png">
            <a:extLst>
              <a:ext uri="{FF2B5EF4-FFF2-40B4-BE49-F238E27FC236}">
                <a16:creationId xmlns:a16="http://schemas.microsoft.com/office/drawing/2014/main" id="{CBDEC5A8-FCB1-1182-8993-EFB8DA60D228}"/>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99CC342A-90A7-2040-0ED1-F5C16AB01BB8}"/>
              </a:ext>
            </a:extLst>
          </p:cNvPr>
          <p:cNvSpPr txBox="1"/>
          <p:nvPr/>
        </p:nvSpPr>
        <p:spPr>
          <a:xfrm>
            <a:off x="941536" y="1512892"/>
            <a:ext cx="10360448" cy="4326762"/>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Calcular a diferença entre dois conjuntos é procurar os elementos que pertencem a somente um dos dois conjuntos. Por exemplo, A – B tem como resposta um conjunto composto por elementos que pertencem ao conjunto A e não pertencem ao conjunto B. Enquanto, a operação B – A tem como resposta um conjunto composto por elementos que pertencem ao conjunto B e não pertencem ao conjunto A.</a:t>
            </a:r>
          </a:p>
        </p:txBody>
      </p:sp>
    </p:spTree>
    <p:extLst>
      <p:ext uri="{BB962C8B-B14F-4D97-AF65-F5344CB8AC3E}">
        <p14:creationId xmlns:p14="http://schemas.microsoft.com/office/powerpoint/2010/main" val="2467551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26ED8-1475-7CB3-C990-76C02E0C41FF}"/>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9D60CFC8-7610-E137-0001-3ABF2F645AE0}"/>
              </a:ext>
            </a:extLst>
          </p:cNvPr>
          <p:cNvPicPr>
            <a:picLocks noChangeAspect="1"/>
          </p:cNvPicPr>
          <p:nvPr/>
        </p:nvPicPr>
        <p:blipFill>
          <a:blip r:embed="rId2"/>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D0A24BE0-54CC-22EC-DAD4-B1C2EEAB085D}"/>
              </a:ext>
            </a:extLst>
          </p:cNvPr>
          <p:cNvSpPr txBox="1"/>
          <p:nvPr/>
        </p:nvSpPr>
        <p:spPr>
          <a:xfrm>
            <a:off x="571500" y="472975"/>
            <a:ext cx="11601450" cy="514350"/>
          </a:xfrm>
          <a:prstGeom prst="rect">
            <a:avLst/>
          </a:prstGeom>
          <a:noFill/>
        </p:spPr>
        <p:txBody>
          <a:bodyPr wrap="square" lIns="0" tIns="0" rIns="0" bIns="0" anchor="t">
            <a:spAutoFit/>
          </a:bodyPr>
          <a:lstStyle/>
          <a:p>
            <a:pPr algn="l"/>
            <a:r>
              <a:rPr lang="pt-BR" sz="3300" b="1" dirty="0">
                <a:solidFill>
                  <a:srgbClr val="121212"/>
                </a:solidFill>
                <a:latin typeface="Montserrat"/>
              </a:rPr>
              <a:t>DIFERENÇA</a:t>
            </a:r>
            <a:endParaRPr lang="pt-BR" sz="3300" b="1" i="0" u="none" dirty="0">
              <a:solidFill>
                <a:srgbClr val="121212"/>
              </a:solidFill>
              <a:latin typeface="Montserrat"/>
            </a:endParaRPr>
          </a:p>
        </p:txBody>
      </p:sp>
      <p:pic>
        <p:nvPicPr>
          <p:cNvPr id="6" name="Picture 2" descr="image.png">
            <a:extLst>
              <a:ext uri="{FF2B5EF4-FFF2-40B4-BE49-F238E27FC236}">
                <a16:creationId xmlns:a16="http://schemas.microsoft.com/office/drawing/2014/main" id="{E6BED94A-FEBB-9E87-51DE-B73050E78726}"/>
              </a:ext>
            </a:extLst>
          </p:cNvPr>
          <p:cNvPicPr>
            <a:picLocks noChangeAspect="1"/>
          </p:cNvPicPr>
          <p:nvPr/>
        </p:nvPicPr>
        <p:blipFill>
          <a:blip r:embed="rId3"/>
          <a:stretch>
            <a:fillRect/>
          </a:stretch>
        </p:blipFill>
        <p:spPr>
          <a:xfrm>
            <a:off x="571498" y="1226568"/>
            <a:ext cx="11077957" cy="5238240"/>
          </a:xfrm>
          <a:prstGeom prst="rect">
            <a:avLst/>
          </a:prstGeom>
        </p:spPr>
      </p:pic>
      <p:sp>
        <p:nvSpPr>
          <p:cNvPr id="14" name="TextBox 6">
            <a:extLst>
              <a:ext uri="{FF2B5EF4-FFF2-40B4-BE49-F238E27FC236}">
                <a16:creationId xmlns:a16="http://schemas.microsoft.com/office/drawing/2014/main" id="{86028EAC-1846-C7B7-23EC-87407F6F1E97}"/>
              </a:ext>
            </a:extLst>
          </p:cNvPr>
          <p:cNvSpPr txBox="1"/>
          <p:nvPr/>
        </p:nvSpPr>
        <p:spPr>
          <a:xfrm>
            <a:off x="941536" y="1512892"/>
            <a:ext cx="10360448" cy="2849434"/>
          </a:xfrm>
          <a:prstGeom prst="rect">
            <a:avLst/>
          </a:prstGeom>
          <a:noFill/>
        </p:spPr>
        <p:txBody>
          <a:bodyPr wrap="square" lIns="0" tIns="0" rIns="0" bIns="0" anchor="t">
            <a:spAutoFit/>
          </a:bodyPr>
          <a:lstStyle/>
          <a:p>
            <a:pPr marL="285750"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Se A = {-7, 2, 100} e B = {2, 50}, então responda:</a:t>
            </a:r>
          </a:p>
          <a:p>
            <a:pPr marL="742950" lvl="1"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 qual é o conjunto A – B? </a:t>
            </a:r>
          </a:p>
          <a:p>
            <a:pPr marL="742950" lvl="1" indent="-285750" algn="just">
              <a:lnSpc>
                <a:spcPct val="200000"/>
              </a:lnSpc>
              <a:buClr>
                <a:srgbClr val="C00000"/>
              </a:buClr>
              <a:buFont typeface="Wingdings" panose="05000000000000000000" pitchFamily="2" charset="2"/>
              <a:buChar char="v"/>
            </a:pPr>
            <a:endParaRPr lang="pt-BR" sz="2400" i="1" dirty="0">
              <a:solidFill>
                <a:srgbClr val="333333"/>
              </a:solidFill>
              <a:latin typeface="Open Sans"/>
            </a:endParaRPr>
          </a:p>
          <a:p>
            <a:pPr marL="742950" lvl="1" indent="-285750" algn="just">
              <a:lnSpc>
                <a:spcPct val="200000"/>
              </a:lnSpc>
              <a:buClr>
                <a:srgbClr val="C00000"/>
              </a:buClr>
              <a:buFont typeface="Wingdings" panose="05000000000000000000" pitchFamily="2" charset="2"/>
              <a:buChar char="v"/>
            </a:pPr>
            <a:r>
              <a:rPr lang="pt-BR" sz="2400" i="1" dirty="0">
                <a:solidFill>
                  <a:srgbClr val="333333"/>
                </a:solidFill>
                <a:latin typeface="Open Sans"/>
              </a:rPr>
              <a:t>E o conjunto B – A?</a:t>
            </a:r>
          </a:p>
        </p:txBody>
      </p:sp>
      <p:pic>
        <p:nvPicPr>
          <p:cNvPr id="4" name="Imagem 3">
            <a:extLst>
              <a:ext uri="{FF2B5EF4-FFF2-40B4-BE49-F238E27FC236}">
                <a16:creationId xmlns:a16="http://schemas.microsoft.com/office/drawing/2014/main" id="{29C7FCE9-7E1A-31CE-7DDF-CCAF044AB800}"/>
              </a:ext>
            </a:extLst>
          </p:cNvPr>
          <p:cNvPicPr>
            <a:picLocks noChangeAspect="1"/>
          </p:cNvPicPr>
          <p:nvPr/>
        </p:nvPicPr>
        <p:blipFill>
          <a:blip r:embed="rId4"/>
          <a:stretch>
            <a:fillRect/>
          </a:stretch>
        </p:blipFill>
        <p:spPr>
          <a:xfrm>
            <a:off x="4482081" y="3070351"/>
            <a:ext cx="3227837" cy="717297"/>
          </a:xfrm>
          <a:prstGeom prst="rect">
            <a:avLst/>
          </a:prstGeom>
          <a:ln w="38100">
            <a:solidFill>
              <a:srgbClr val="C00000"/>
            </a:solidFill>
          </a:ln>
        </p:spPr>
      </p:pic>
      <p:pic>
        <p:nvPicPr>
          <p:cNvPr id="7" name="Imagem 7">
            <a:extLst>
              <a:ext uri="{FF2B5EF4-FFF2-40B4-BE49-F238E27FC236}">
                <a16:creationId xmlns:a16="http://schemas.microsoft.com/office/drawing/2014/main" id="{A32D756D-737B-0647-4713-079E338C1ABC}"/>
              </a:ext>
            </a:extLst>
          </p:cNvPr>
          <p:cNvPicPr>
            <a:picLocks noChangeAspect="1"/>
          </p:cNvPicPr>
          <p:nvPr/>
        </p:nvPicPr>
        <p:blipFill>
          <a:blip r:embed="rId5"/>
          <a:stretch>
            <a:fillRect/>
          </a:stretch>
        </p:blipFill>
        <p:spPr>
          <a:xfrm>
            <a:off x="4939284" y="4745415"/>
            <a:ext cx="2313432" cy="771143"/>
          </a:xfrm>
          <a:prstGeom prst="rect">
            <a:avLst/>
          </a:prstGeom>
          <a:ln w="38100">
            <a:solidFill>
              <a:srgbClr val="C00000"/>
            </a:solidFill>
          </a:ln>
        </p:spPr>
      </p:pic>
    </p:spTree>
    <p:extLst>
      <p:ext uri="{BB962C8B-B14F-4D97-AF65-F5344CB8AC3E}">
        <p14:creationId xmlns:p14="http://schemas.microsoft.com/office/powerpoint/2010/main" val="3638335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68E5A-D5AA-70E7-6F34-30E119C58FFD}"/>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92184882-6016-C1EE-9F52-7A94B2C90757}"/>
              </a:ext>
            </a:extLst>
          </p:cNvPr>
          <p:cNvSpPr/>
          <p:nvPr/>
        </p:nvSpPr>
        <p:spPr>
          <a:xfrm>
            <a:off x="0" y="2165684"/>
            <a:ext cx="12089331" cy="1735696"/>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pt-BR"/>
          </a:p>
        </p:txBody>
      </p:sp>
      <p:pic>
        <p:nvPicPr>
          <p:cNvPr id="2" name="Picture 1" descr="image.png">
            <a:extLst>
              <a:ext uri="{FF2B5EF4-FFF2-40B4-BE49-F238E27FC236}">
                <a16:creationId xmlns:a16="http://schemas.microsoft.com/office/drawing/2014/main" id="{3D0AB8B1-A7CF-5288-14E4-2AAE02FF547E}"/>
              </a:ext>
            </a:extLst>
          </p:cNvPr>
          <p:cNvPicPr>
            <a:picLocks noChangeAspect="1"/>
          </p:cNvPicPr>
          <p:nvPr/>
        </p:nvPicPr>
        <p:blipFill>
          <a:blip r:embed="rId2"/>
          <a:stretch/>
        </p:blipFill>
        <p:spPr>
          <a:xfrm>
            <a:off x="0" y="0"/>
            <a:ext cx="12192000" cy="6858000"/>
          </a:xfrm>
          <a:prstGeom prst="rect">
            <a:avLst/>
          </a:prstGeom>
          <a:solidFill>
            <a:schemeClr val="bg1"/>
          </a:solidFill>
        </p:spPr>
      </p:pic>
      <p:sp>
        <p:nvSpPr>
          <p:cNvPr id="3" name="TextBox 2">
            <a:extLst>
              <a:ext uri="{FF2B5EF4-FFF2-40B4-BE49-F238E27FC236}">
                <a16:creationId xmlns:a16="http://schemas.microsoft.com/office/drawing/2014/main" id="{E43EA3B1-D59B-AD18-73E6-8DB611068392}"/>
              </a:ext>
            </a:extLst>
          </p:cNvPr>
          <p:cNvSpPr txBox="1"/>
          <p:nvPr/>
        </p:nvSpPr>
        <p:spPr>
          <a:xfrm>
            <a:off x="0" y="2369939"/>
            <a:ext cx="12192000" cy="679673"/>
          </a:xfrm>
          <a:prstGeom prst="rect">
            <a:avLst/>
          </a:prstGeom>
          <a:noFill/>
        </p:spPr>
        <p:txBody>
          <a:bodyPr wrap="square" lIns="0" tIns="0" rIns="0" bIns="0" anchor="t">
            <a:spAutoFit/>
          </a:bodyPr>
          <a:lstStyle/>
          <a:p>
            <a:pPr algn="ctr">
              <a:lnSpc>
                <a:spcPts val="5280"/>
              </a:lnSpc>
            </a:pPr>
            <a:r>
              <a:rPr lang="pt-BR" sz="4800" b="1" dirty="0">
                <a:latin typeface="Montserrat"/>
              </a:rPr>
              <a:t>DÚVIDAS?</a:t>
            </a:r>
            <a:endParaRPr sz="4800" b="1" i="0" u="none" dirty="0">
              <a:latin typeface="Montserrat"/>
            </a:endParaRPr>
          </a:p>
        </p:txBody>
      </p:sp>
      <p:sp>
        <p:nvSpPr>
          <p:cNvPr id="4" name="TextBox 3">
            <a:extLst>
              <a:ext uri="{FF2B5EF4-FFF2-40B4-BE49-F238E27FC236}">
                <a16:creationId xmlns:a16="http://schemas.microsoft.com/office/drawing/2014/main" id="{EF720E3A-39D4-F062-1A3F-47F77F0BF23B}"/>
              </a:ext>
            </a:extLst>
          </p:cNvPr>
          <p:cNvSpPr txBox="1"/>
          <p:nvPr/>
        </p:nvSpPr>
        <p:spPr>
          <a:xfrm>
            <a:off x="-8771" y="3901380"/>
            <a:ext cx="12200771" cy="362728"/>
          </a:xfrm>
          <a:prstGeom prst="rect">
            <a:avLst/>
          </a:prstGeom>
          <a:noFill/>
        </p:spPr>
        <p:txBody>
          <a:bodyPr wrap="square" lIns="0" tIns="0" rIns="0" bIns="0" anchor="t">
            <a:spAutoFit/>
          </a:bodyPr>
          <a:lstStyle/>
          <a:p>
            <a:pPr algn="ctr">
              <a:lnSpc>
                <a:spcPts val="3120"/>
              </a:lnSpc>
            </a:pPr>
            <a:r>
              <a:rPr lang="pt-BR" sz="1950" b="1" dirty="0">
                <a:solidFill>
                  <a:srgbClr val="BF0000"/>
                </a:solidFill>
                <a:latin typeface="Open Sans"/>
                <a:ea typeface="Open Sans" panose="020B0606030504020204" pitchFamily="34" charset="0"/>
                <a:cs typeface="Open Sans" panose="020B0606030504020204" pitchFamily="34" charset="0"/>
              </a:rPr>
              <a:t>thissiany.almeida@cps.sp.gov.br</a:t>
            </a:r>
            <a:endParaRPr sz="1950" b="1" dirty="0">
              <a:solidFill>
                <a:srgbClr val="BF0000"/>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15" name="Conector reto 14">
            <a:extLst>
              <a:ext uri="{FF2B5EF4-FFF2-40B4-BE49-F238E27FC236}">
                <a16:creationId xmlns:a16="http://schemas.microsoft.com/office/drawing/2014/main" id="{B0530403-342D-B531-D352-41222C45BC06}"/>
              </a:ext>
            </a:extLst>
          </p:cNvPr>
          <p:cNvCxnSpPr>
            <a:cxnSpLocks/>
          </p:cNvCxnSpPr>
          <p:nvPr/>
        </p:nvCxnSpPr>
        <p:spPr>
          <a:xfrm>
            <a:off x="0" y="658368"/>
            <a:ext cx="12183229"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Retângulo 15">
            <a:extLst>
              <a:ext uri="{FF2B5EF4-FFF2-40B4-BE49-F238E27FC236}">
                <a16:creationId xmlns:a16="http://schemas.microsoft.com/office/drawing/2014/main" id="{5198FAC8-DE8B-4202-E9B5-EC4707295A2C}"/>
              </a:ext>
            </a:extLst>
          </p:cNvPr>
          <p:cNvSpPr/>
          <p:nvPr/>
        </p:nvSpPr>
        <p:spPr>
          <a:xfrm>
            <a:off x="-8771" y="6271319"/>
            <a:ext cx="12192000" cy="574570"/>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7" name="Espaço Reservado para Rodapé 11">
            <a:extLst>
              <a:ext uri="{FF2B5EF4-FFF2-40B4-BE49-F238E27FC236}">
                <a16:creationId xmlns:a16="http://schemas.microsoft.com/office/drawing/2014/main" id="{7685845F-60F4-904C-AE66-12A51714D545}"/>
              </a:ext>
            </a:extLst>
          </p:cNvPr>
          <p:cNvSpPr txBox="1">
            <a:spLocks/>
          </p:cNvSpPr>
          <p:nvPr/>
        </p:nvSpPr>
        <p:spPr>
          <a:xfrm>
            <a:off x="7766620" y="6292623"/>
            <a:ext cx="2895600" cy="54948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solidFill>
                  <a:schemeClr val="bg1"/>
                </a:solidFill>
              </a:rPr>
              <a:t>PROFª THISSIANY BEATRIZ ALMEIDA</a:t>
            </a:r>
          </a:p>
        </p:txBody>
      </p:sp>
      <p:sp>
        <p:nvSpPr>
          <p:cNvPr id="18" name="Espaço Reservado para Rodapé 11">
            <a:extLst>
              <a:ext uri="{FF2B5EF4-FFF2-40B4-BE49-F238E27FC236}">
                <a16:creationId xmlns:a16="http://schemas.microsoft.com/office/drawing/2014/main" id="{B12E2753-BB97-0E66-3B79-A7A9CC67E0B2}"/>
              </a:ext>
            </a:extLst>
          </p:cNvPr>
          <p:cNvSpPr txBox="1">
            <a:spLocks/>
          </p:cNvSpPr>
          <p:nvPr/>
        </p:nvSpPr>
        <p:spPr>
          <a:xfrm>
            <a:off x="1452878" y="6292623"/>
            <a:ext cx="5030536" cy="559322"/>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solidFill>
                  <a:schemeClr val="bg1"/>
                </a:solidFill>
              </a:rPr>
              <a:t>MATEMÁTICA PARA COMPUTAÇÃO</a:t>
            </a:r>
          </a:p>
        </p:txBody>
      </p:sp>
      <p:pic>
        <p:nvPicPr>
          <p:cNvPr id="11" name="Picture 10">
            <a:extLst>
              <a:ext uri="{FF2B5EF4-FFF2-40B4-BE49-F238E27FC236}">
                <a16:creationId xmlns:a16="http://schemas.microsoft.com/office/drawing/2014/main" id="{E7EE123A-1D20-9FDE-E6BC-0D17A7C2094D}"/>
              </a:ext>
            </a:extLst>
          </p:cNvPr>
          <p:cNvPicPr>
            <a:picLocks noChangeAspect="1"/>
          </p:cNvPicPr>
          <p:nvPr/>
        </p:nvPicPr>
        <p:blipFill>
          <a:blip r:embed="rId3"/>
          <a:stretch>
            <a:fillRect/>
          </a:stretch>
        </p:blipFill>
        <p:spPr>
          <a:xfrm>
            <a:off x="7507224" y="100159"/>
            <a:ext cx="4693547" cy="729519"/>
          </a:xfrm>
          <a:prstGeom prst="rect">
            <a:avLst/>
          </a:prstGeom>
        </p:spPr>
      </p:pic>
    </p:spTree>
    <p:extLst>
      <p:ext uri="{BB962C8B-B14F-4D97-AF65-F5344CB8AC3E}">
        <p14:creationId xmlns:p14="http://schemas.microsoft.com/office/powerpoint/2010/main" val="880330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1A5309949B11C4CB16C511DFC2C6B89" ma:contentTypeVersion="3" ma:contentTypeDescription="Crie um novo documento." ma:contentTypeScope="" ma:versionID="1d29b50cf3fd3bad30ef15843b51a5ba">
  <xsd:schema xmlns:xsd="http://www.w3.org/2001/XMLSchema" xmlns:xs="http://www.w3.org/2001/XMLSchema" xmlns:p="http://schemas.microsoft.com/office/2006/metadata/properties" xmlns:ns2="123d4502-9e17-4cff-b61c-384eaceecf46" targetNamespace="http://schemas.microsoft.com/office/2006/metadata/properties" ma:root="true" ma:fieldsID="71ecb686d0f0e9be58741ea6e3e46b0f" ns2:_="">
    <xsd:import namespace="123d4502-9e17-4cff-b61c-384eaceecf4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3d4502-9e17-4cff-b61c-384eaceecf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9A0966-98BD-44A9-925C-76B939A637CF}"/>
</file>

<file path=customXml/itemProps2.xml><?xml version="1.0" encoding="utf-8"?>
<ds:datastoreItem xmlns:ds="http://schemas.openxmlformats.org/officeDocument/2006/customXml" ds:itemID="{FB1B7DC7-6FBF-4F05-93E2-14D3D487DB45}"/>
</file>

<file path=customXml/itemProps3.xml><?xml version="1.0" encoding="utf-8"?>
<ds:datastoreItem xmlns:ds="http://schemas.openxmlformats.org/officeDocument/2006/customXml" ds:itemID="{AD51A42D-2074-43A2-92D9-8DFD7A714AEF}"/>
</file>

<file path=docProps/app.xml><?xml version="1.0" encoding="utf-8"?>
<Properties xmlns="http://schemas.openxmlformats.org/officeDocument/2006/extended-properties" xmlns:vt="http://schemas.openxmlformats.org/officeDocument/2006/docPropsVTypes">
  <TotalTime>1961</TotalTime>
  <Words>845</Words>
  <Application>Microsoft Office PowerPoint</Application>
  <PresentationFormat>Widescreen</PresentationFormat>
  <Paragraphs>63</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Calibri</vt:lpstr>
      <vt:lpstr>Montserrat</vt:lpstr>
      <vt:lpstr>Open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Thissiany</dc:creator>
  <cp:keywords/>
  <dc:description>generated using python-pptx</dc:description>
  <cp:lastModifiedBy>Thissiany</cp:lastModifiedBy>
  <cp:revision>8</cp:revision>
  <dcterms:created xsi:type="dcterms:W3CDTF">2013-01-27T09:14:16Z</dcterms:created>
  <dcterms:modified xsi:type="dcterms:W3CDTF">2026-08-10T22:00:56Z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0x010100E1A5309949B11C4CB16C511DFC2C6B89</vt:lpwstr>
  </property>
</Properties>
</file>